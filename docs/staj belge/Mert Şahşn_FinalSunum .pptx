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  <p:sldMasterId id="2147483673" r:id="rId3"/>
  </p:sldMasterIdLst>
  <p:notesMasterIdLst>
    <p:notesMasterId r:id="rId27"/>
  </p:notesMasterIdLst>
  <p:handoutMasterIdLst>
    <p:handoutMasterId r:id="rId28"/>
  </p:handoutMasterIdLst>
  <p:sldIdLst>
    <p:sldId id="256" r:id="rId4"/>
    <p:sldId id="277" r:id="rId5"/>
    <p:sldId id="278" r:id="rId6"/>
    <p:sldId id="295" r:id="rId7"/>
    <p:sldId id="279" r:id="rId8"/>
    <p:sldId id="286" r:id="rId9"/>
    <p:sldId id="280" r:id="rId10"/>
    <p:sldId id="281" r:id="rId11"/>
    <p:sldId id="287" r:id="rId12"/>
    <p:sldId id="296" r:id="rId13"/>
    <p:sldId id="288" r:id="rId14"/>
    <p:sldId id="283" r:id="rId15"/>
    <p:sldId id="290" r:id="rId16"/>
    <p:sldId id="291" r:id="rId17"/>
    <p:sldId id="292" r:id="rId18"/>
    <p:sldId id="293" r:id="rId19"/>
    <p:sldId id="294" r:id="rId20"/>
    <p:sldId id="282" r:id="rId21"/>
    <p:sldId id="289" r:id="rId22"/>
    <p:sldId id="284" r:id="rId23"/>
    <p:sldId id="285" r:id="rId24"/>
    <p:sldId id="267" r:id="rId25"/>
    <p:sldId id="266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9A4B8C-1379-4C00-B28D-6DC4FF4FD505}">
  <a:tblStyle styleId="{529A4B8C-1379-4C00-B28D-6DC4FF4FD5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6EBB76B-0159-4530-B0F6-C2C8905109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85038" autoAdjust="0"/>
  </p:normalViewPr>
  <p:slideViewPr>
    <p:cSldViewPr snapToGrid="0">
      <p:cViewPr varScale="1">
        <p:scale>
          <a:sx n="68" d="100"/>
          <a:sy n="68" d="100"/>
        </p:scale>
        <p:origin x="3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BAED76-3CEF-47F3-89DC-0A4362A10C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34040-362A-4901-9139-36FF04B5A1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E190-5C85-49BA-BC61-135C81B32B6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07720-4D26-4388-BC16-A9FAADD557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AC0C6-DAA4-4010-BC3E-B3EFF2CB60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AB9BD-5631-4DDE-92A6-8F5E873E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3439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509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3773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67927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6379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0675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94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28C5-74E1-8310-5044-E3E4A345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F8C3126-1902-AB7B-67DD-D3C19629C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60B8E6C-A092-850E-A0B1-1C7C0F37C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6769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3AD5-81BE-D39A-4231-E7DEF1E2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F2BDDBFB-E603-B1A1-1661-E1742A15D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CAF33ABA-7F11-AD66-4D4C-5FBA43319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97895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C62-52CB-2E09-9158-D7FF8269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838E543D-E610-8AC0-84C1-514A4770E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6A5E2959-E7E0-F7A3-651C-7DE6F99C4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2933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9138-4A25-4BA1-142C-2AC738ED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D2F65531-1A88-A840-8018-CA610AA3A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93DCEC5C-99DC-5C68-16A4-394A8C0D8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0137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9C7E-5684-F95C-FA51-A7820047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3E9E6497-7EB0-E8F9-0DC3-D8C116ECF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58ACB5C4-493C-CA76-3DF7-A2051451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7123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28743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CDDA2-43A3-B66F-9466-A321A38A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C56B4959-8DB4-98D7-8AD9-8F36409D0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D2DE3475-9165-C93E-8BC7-758C18F1F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30553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7918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4" y="-4"/>
            <a:ext cx="9162955" cy="5148516"/>
          </a:xfrm>
          <a:custGeom>
            <a:avLst/>
            <a:gdLst/>
            <a:ahLst/>
            <a:cxnLst/>
            <a:rect l="l" t="t" r="r" b="b"/>
            <a:pathLst>
              <a:path w="4014438" h="2258121" extrusionOk="0">
                <a:moveTo>
                  <a:pt x="3432199" y="0"/>
                </a:moveTo>
                <a:cubicBezTo>
                  <a:pt x="3485662" y="101239"/>
                  <a:pt x="3541529" y="221045"/>
                  <a:pt x="3606618" y="360589"/>
                </a:cubicBezTo>
                <a:cubicBezTo>
                  <a:pt x="3810894" y="798685"/>
                  <a:pt x="3924532" y="1042395"/>
                  <a:pt x="3839685" y="1275525"/>
                </a:cubicBezTo>
                <a:cubicBezTo>
                  <a:pt x="3754838" y="1508656"/>
                  <a:pt x="3511128" y="1622293"/>
                  <a:pt x="3073032" y="1826591"/>
                </a:cubicBezTo>
                <a:cubicBezTo>
                  <a:pt x="2634936" y="2030888"/>
                  <a:pt x="2391226" y="2144401"/>
                  <a:pt x="2158096" y="2059658"/>
                </a:cubicBezTo>
                <a:cubicBezTo>
                  <a:pt x="1924966" y="1974916"/>
                  <a:pt x="1811306" y="1731101"/>
                  <a:pt x="1607030" y="1293005"/>
                </a:cubicBezTo>
                <a:cubicBezTo>
                  <a:pt x="1402754" y="854908"/>
                  <a:pt x="1289095" y="611199"/>
                  <a:pt x="1373942" y="378068"/>
                </a:cubicBezTo>
                <a:cubicBezTo>
                  <a:pt x="1432005" y="218536"/>
                  <a:pt x="1564481" y="114955"/>
                  <a:pt x="1782682" y="0"/>
                </a:cubicBezTo>
                <a:lnTo>
                  <a:pt x="0" y="0"/>
                </a:lnTo>
                <a:lnTo>
                  <a:pt x="0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 rot="-1181051">
            <a:off x="3612827" y="-661443"/>
            <a:ext cx="5242557" cy="5242352"/>
          </a:xfrm>
          <a:custGeom>
            <a:avLst/>
            <a:gdLst/>
            <a:ahLst/>
            <a:cxnLst/>
            <a:rect l="l" t="t" r="r" b="b"/>
            <a:pathLst>
              <a:path w="1376904" h="1376850" extrusionOk="0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783675"/>
            <a:ext cx="5396700" cy="14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816902-BF1E-4094-A534-2CDE333C33DD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4749900"/>
            <a:ext cx="91440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790026" y="-743550"/>
            <a:ext cx="2750366" cy="2750258"/>
          </a:xfrm>
          <a:custGeom>
            <a:avLst/>
            <a:gdLst/>
            <a:ahLst/>
            <a:cxnLst/>
            <a:rect l="l" t="t" r="r" b="b"/>
            <a:pathLst>
              <a:path w="1376904" h="1376850" extrusionOk="0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558600" y="514350"/>
            <a:ext cx="2824200" cy="46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456478" y="129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56478" y="129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831963" y="248075"/>
            <a:ext cx="5480078" cy="5479863"/>
          </a:xfrm>
          <a:custGeom>
            <a:avLst/>
            <a:gdLst/>
            <a:ahLst/>
            <a:cxnLst/>
            <a:rect l="l" t="t" r="r" b="b"/>
            <a:pathLst>
              <a:path w="1376904" h="1376850" extrusionOk="0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4C41-2BD1-4873-B0CC-CF737F054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14846-B30A-4AD9-9C70-DD6A4587E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0FF9-61A3-4614-B649-470D79F8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B6E2-A591-41C3-A184-CBCEA0A1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A7D4E-AB71-4F1C-9681-E9101467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9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4D7D-2902-4769-876D-81F088DA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7E4E-7A2C-4DC8-97A8-6E2566253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31A1-4478-4A4F-8538-90D4CB2C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50F7C-87E7-4ED4-BEA6-C2D6E6D0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83D8-33B8-4564-9B51-B2113907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8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21CD-9063-45B6-A51F-8627CAB43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FBD91-B7BF-414E-B136-1797F2876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E0043-EEE3-4F84-A870-68D7E077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2B883-FEDE-4790-B3E8-D6FE00EA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F6D24-AE46-475C-B100-41576950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1C90-F8CE-4D67-A36B-33CFCBFD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51D8-E6C8-49E9-B1AB-1524E7E87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E960C-9B0E-4AE4-BFE4-C7BA40A96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FEAF9-40CE-4433-A903-82AABD0E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FC67F-B0F3-4E0B-B8AC-0C68DE2C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DED6F-B78A-44DB-8709-B84D7FE2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6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7B74-0901-4B64-91F0-99A12622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8EAD1-B49C-4525-8949-64A51E797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AA504-78E4-47A7-A1C0-4948D43B7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2FB94-D171-4938-A008-4051C38DA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9B4A-C49C-46AB-A06D-1061E73E2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C87F0-EA40-4D89-97AA-80EFA900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DEEAB-1527-47B0-9180-54C96A3A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3D6DF-50F0-4EB9-9517-B4935885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25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CDE3-4582-4EEA-875E-3A951DC3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12AD9-2D0F-49EE-9237-391D5C7E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F73DB-0FF0-4473-91D1-4DBA5C4C4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16D7F-4C56-468A-A73A-6DDA1C4F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9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4BC8F-3F45-40F1-8B4B-2BDC0832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7472B-B540-48E1-9F88-BA59B10E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FDD9-F231-40FA-AFA4-2C52C74E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9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C8EB-4738-4548-9C10-FEEA380F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92E5-E05A-4C05-A8B0-94088EF2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F174-AEA3-41F3-A0BC-54247865C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EE65D-3A40-4F44-8F66-9D8C14B7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BD1E0-BBDC-4E7B-A145-4B1AA479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D6AE5-B05A-41FA-A8A4-0CF11847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2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FF1B-6D23-4592-8B84-2DDA4726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0F1CF-4179-4394-BBD5-40ACCB22B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5BCFF-D493-428E-9883-A3C68930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41F2-BAB5-4CD2-BDA9-211E58EE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66EDC-4DA3-4F02-B9D7-464DF130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7261E-D018-488B-964B-AFF3BE2F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1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EF22-37C4-4A0C-ABA8-DFDC4D83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B78C4-246C-4181-A5F4-B1067FFCD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C80AC-0063-4ED1-AEBE-5968340B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948A-567C-428A-91A9-15BBD953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2AAA8-2172-48D2-832E-CA85A2EA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14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D536F-7A9C-4772-A2AB-D0C10BF77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0AE12-0C44-4878-AD26-55EA28837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AB91C-93EC-4982-80A5-2E98310D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EE904-B6A3-41D0-9B8B-D024DEB4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0FE51-EAC7-474E-A982-D51E6B90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40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0E6A-AC77-49C7-BEF8-602574BF6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6AD8-894A-471A-8D42-2E34A25CA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7ADDA-5F04-4881-BB24-AD37D594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DE8D9-584B-480D-91E9-514941AA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66FA2-E710-4D4A-9AF5-7996949C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96E3-D5F3-4370-98C9-975C7D7B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944A-5947-41F6-8AA8-AE1CB7847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DADBA-AB13-4AB1-BF81-4681A7C0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EEC45-DF62-4FA0-9B98-D7231F65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15E3-C432-4829-A459-A17C7143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04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E0EB-9E6B-48E7-A6BE-6A81105B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F6C96-EF51-4EEB-81F1-7734E4BF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E613E-6CAD-45FA-BD69-6B6019A9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7BF8F-7420-4CB3-8C6D-9568C105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45BE-CF70-4780-8998-54B2ACE3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1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8FEA-6218-40AC-994B-9B2950A3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E9AC-3F7A-41F0-8FD9-1907A5C18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AEE66-6C62-40D2-8DF1-5E2B0ECF1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C3D08-1A37-43E3-87E3-E939D47F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5C05B-3F97-4238-8BF2-E6A8A477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2D85E-4635-4124-AA9D-4E8DC58C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11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3072-62F9-423F-B7BA-888D9087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9B04F-B3F4-4D5C-B9FB-90FB2D80F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E3440-19D9-42F5-B78B-843097316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9F438-3AF6-4321-9029-EB2E64BBB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E6C3B-BB3A-42AD-B6AD-25BD86A99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EAF72-754F-41FD-AD4E-5D403C31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1DE04-3B25-4993-856A-00AC80A3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F4BD9-0A75-455B-BA7D-88D69427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76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6732-3D48-4F79-8071-63CCA40F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33CE0-ED23-47DF-A964-0CE05B2D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D47BD-CCA9-4C78-AB86-1C03C1F8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E1873-10EB-41D3-AE7B-B3596B52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703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6089B-B6C7-4197-A387-D72845D7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754BB-2B18-432D-B534-F454FBE6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BD2B6-8362-42E5-99B3-F1601346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14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7E238-2242-4BDA-A2DA-814F380B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5B71-FF3C-4E49-A3F1-12D1F2BEB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EF5BD-9703-48BC-B041-5E86B7553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77E83-CBC9-49A2-8190-EDC11B57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5A406-AC98-4AD7-8FF3-A940A291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B8028-86E0-4545-A7E4-3505C030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30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8898-7D81-4F1A-9B82-66A97478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A8848-9858-413A-A205-727D38206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A990E-9A59-462B-A7C8-D95E3E506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CB3F6-1533-4F2C-8F23-43208BE6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C9243-7059-4491-8D56-45AA6CC4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2867A-0D26-4924-AD1A-B0677F34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686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1C17-3D15-4B77-AC7B-7865512F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1160A-F7AA-48C5-AF49-C70FD8412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9E4B8-73E6-49E7-94A4-852BB787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F428-0A85-4560-854F-EAD3889C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AD392-ED39-4663-B453-C9894EEB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56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7A5B9-DA7F-4B3A-86B6-76E84BAD7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C78EF-B31A-48B5-8328-8205FB9BB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526BC-C818-4532-B1E5-E5378F5C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8441-B1F9-4A17-8632-9E4E0391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BE2FB-40D5-4BE2-9329-F9CABF21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1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4"/>
            </a:gs>
            <a:gs pos="20000">
              <a:schemeClr val="accent4"/>
            </a:gs>
            <a:gs pos="79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58600" y="1123950"/>
            <a:ext cx="25953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1875" y="1200150"/>
            <a:ext cx="4933500" cy="30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Karla"/>
              <a:buChar char="▪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55600"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Karla"/>
              <a:buChar char="▫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9" r:id="rId3"/>
  </p:sldLayoutIdLst>
  <p:transition>
    <p:fade thruBlk="1"/>
  </p:transition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F321-92AA-466A-BBAE-F3EB281C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37570-A0B4-4108-9FEC-8CA16B920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3C5D6-6BBC-4CB0-91E2-5C5BEB011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9F0A-7DCE-4FD2-A1A5-3ACE9754D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9D4E-17A2-4E77-B581-6DE6D9BCD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03E1B-BB4A-4DD0-B9B0-6A57AC59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7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3156F0-48CD-4C06-ACD8-E68B8FAA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EDB11-0533-4FC7-8D73-84E2EAFA8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5A67-73F9-4A08-97F0-83806EECA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61BE3-5737-4429-AD14-435AA0589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Sign Language Recognition Systems: AI-Powered Silent Communication in the Defense Industry, Nergis PERVAN AKMAN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54BCE-1B8A-4C84-B44E-53F620ADD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DFF9B-1C58-4343-A8E7-8227CC47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4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ctrTitle"/>
          </p:nvPr>
        </p:nvSpPr>
        <p:spPr>
          <a:xfrm>
            <a:off x="835817" y="1151617"/>
            <a:ext cx="7750969" cy="1714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Yapay</a:t>
            </a:r>
            <a:r>
              <a:rPr lang="en-US" sz="3200" dirty="0"/>
              <a:t> Zeka </a:t>
            </a:r>
            <a:r>
              <a:rPr lang="en-US" sz="3200" dirty="0" err="1"/>
              <a:t>Tabanli</a:t>
            </a:r>
            <a:r>
              <a:rPr lang="en-US" sz="3200" dirty="0"/>
              <a:t> </a:t>
            </a:r>
            <a:r>
              <a:rPr lang="en-US" sz="3200" dirty="0" err="1"/>
              <a:t>Ses</a:t>
            </a:r>
            <a:r>
              <a:rPr lang="en-US" sz="3200" dirty="0"/>
              <a:t> </a:t>
            </a:r>
            <a:r>
              <a:rPr lang="en-US" sz="3200" dirty="0" err="1"/>
              <a:t>Sistemlerinde</a:t>
            </a:r>
            <a:r>
              <a:rPr lang="en-US" sz="3200" dirty="0"/>
              <a:t> G</a:t>
            </a:r>
            <a:r>
              <a:rPr lang="tr-TR" sz="3200" dirty="0"/>
              <a:t>ü</a:t>
            </a:r>
            <a:r>
              <a:rPr lang="en-US" sz="3200" dirty="0"/>
              <a:t>r</a:t>
            </a:r>
            <a:r>
              <a:rPr lang="tr-TR" sz="3200" dirty="0"/>
              <a:t>ü</a:t>
            </a:r>
            <a:r>
              <a:rPr lang="en-US" sz="3200" dirty="0" err="1"/>
              <a:t>lt</a:t>
            </a:r>
            <a:r>
              <a:rPr lang="tr-TR" sz="3200" dirty="0"/>
              <a:t>ü</a:t>
            </a:r>
            <a:r>
              <a:rPr lang="en-US" sz="3200" dirty="0"/>
              <a:t> </a:t>
            </a:r>
            <a:r>
              <a:rPr lang="en-US" sz="3200" dirty="0" err="1"/>
              <a:t>Engelleme</a:t>
            </a:r>
            <a:r>
              <a:rPr lang="en-US" sz="3200" dirty="0"/>
              <a:t> (AI-Based Noise Cancelling)</a:t>
            </a:r>
            <a:br>
              <a:rPr lang="tr-TR" sz="3200" dirty="0"/>
            </a:br>
            <a:r>
              <a:rPr lang="tr-TR" sz="3200" dirty="0"/>
              <a:t>Staj Sonu Sunumu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B4A10-8CB4-4C77-AF59-00B082A3C107}"/>
              </a:ext>
            </a:extLst>
          </p:cNvPr>
          <p:cNvSpPr txBox="1"/>
          <p:nvPr/>
        </p:nvSpPr>
        <p:spPr>
          <a:xfrm>
            <a:off x="835818" y="2939884"/>
            <a:ext cx="2586322" cy="97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b="1" dirty="0">
                <a:solidFill>
                  <a:schemeClr val="tx1"/>
                </a:solidFill>
                <a:latin typeface="Encode Sans Semi Condensed"/>
                <a:ea typeface="Calibri" panose="020F0502020204030204" pitchFamily="34" charset="0"/>
                <a:cs typeface="Times New Roman" panose="02020603050405020304" pitchFamily="18" charset="0"/>
              </a:rPr>
              <a:t>Stajyer:</a:t>
            </a:r>
            <a:r>
              <a:rPr lang="en-US" b="1" dirty="0">
                <a:solidFill>
                  <a:schemeClr val="tx1"/>
                </a:solidFill>
                <a:latin typeface="Encode Sans Semi Condensed"/>
                <a:ea typeface="Calibri" panose="020F0502020204030204" pitchFamily="34" charset="0"/>
                <a:cs typeface="Times New Roman" panose="02020603050405020304" pitchFamily="18" charset="0"/>
              </a:rPr>
              <a:t> Mert </a:t>
            </a:r>
            <a:r>
              <a:rPr lang="tr-TR" b="1" dirty="0">
                <a:solidFill>
                  <a:schemeClr val="tx1"/>
                </a:solidFill>
                <a:latin typeface="Encode Sans Semi Condensed"/>
                <a:ea typeface="Calibri" panose="020F0502020204030204" pitchFamily="34" charset="0"/>
                <a:cs typeface="Times New Roman" panose="02020603050405020304" pitchFamily="18" charset="0"/>
              </a:rPr>
              <a:t>Şahin</a:t>
            </a:r>
            <a:endParaRPr lang="en-US" dirty="0">
              <a:solidFill>
                <a:schemeClr val="tx1"/>
              </a:solidFill>
              <a:latin typeface="Encode Sans Semi Condensed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b="1" dirty="0">
                <a:solidFill>
                  <a:schemeClr val="tx1"/>
                </a:solidFill>
                <a:latin typeface="Encode Sans Semi Condensed"/>
                <a:ea typeface="Calibri" panose="020F0502020204030204" pitchFamily="34" charset="0"/>
                <a:cs typeface="Times New Roman" panose="02020603050405020304" pitchFamily="18" charset="0"/>
              </a:rPr>
              <a:t>Staj Başlangıç Tarihi: 28.07.2025</a:t>
            </a:r>
            <a:endParaRPr lang="en-US" dirty="0">
              <a:solidFill>
                <a:schemeClr val="tx1"/>
              </a:solidFill>
              <a:latin typeface="Encode Sans Semi Condensed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b="1" dirty="0">
                <a:solidFill>
                  <a:schemeClr val="tx1"/>
                </a:solidFill>
                <a:latin typeface="Encode Sans Semi Condensed"/>
                <a:ea typeface="Calibri" panose="020F0502020204030204" pitchFamily="34" charset="0"/>
                <a:cs typeface="Times New Roman" panose="02020603050405020304" pitchFamily="18" charset="0"/>
              </a:rPr>
              <a:t>Staj Bitiş Tarihi: 05.09.2025</a:t>
            </a:r>
            <a:endParaRPr lang="en-US" dirty="0">
              <a:solidFill>
                <a:schemeClr val="tx1"/>
              </a:solidFill>
              <a:latin typeface="Encode Sans Semi Condensed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F4FB4-D683-43A1-9398-7BD08CA13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212" y="3648272"/>
            <a:ext cx="2343149" cy="1808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6FA4A7-3ED4-4990-93B2-E350113F3B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07" t="18015" r="82135" b="63408"/>
          <a:stretch/>
        </p:blipFill>
        <p:spPr>
          <a:xfrm>
            <a:off x="0" y="4139523"/>
            <a:ext cx="2586322" cy="100397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E11DC8-ED06-4D8D-B0DE-95B6E07B48B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B16C06C-8E0A-B814-14A0-1E1FF78CED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51A7E5B8-1366-3DD7-D20A-A1D37F224AFA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2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9755C9D1-63F9-1830-7962-036C34FEF134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6068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Proje Tanımı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2928D88C-2EA6-1927-03C2-13CB483CBE93}"/>
              </a:ext>
            </a:extLst>
          </p:cNvPr>
          <p:cNvSpPr txBox="1">
            <a:spLocks/>
          </p:cNvSpPr>
          <p:nvPr/>
        </p:nvSpPr>
        <p:spPr>
          <a:xfrm>
            <a:off x="2092592" y="1495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200" dirty="0"/>
              <a:t>Bu </a:t>
            </a:r>
            <a:r>
              <a:rPr lang="en-US" sz="1200" dirty="0" err="1"/>
              <a:t>projenin</a:t>
            </a:r>
            <a:r>
              <a:rPr lang="en-US" sz="1200" dirty="0"/>
              <a:t> ana </a:t>
            </a:r>
            <a:r>
              <a:rPr lang="en-US" sz="1200" dirty="0" err="1"/>
              <a:t>odağı</a:t>
            </a:r>
            <a:r>
              <a:rPr lang="en-US" sz="1200" dirty="0"/>
              <a:t>, </a:t>
            </a:r>
            <a:r>
              <a:rPr lang="en-US" sz="1200" dirty="0" err="1"/>
              <a:t>geleneksel</a:t>
            </a:r>
            <a:r>
              <a:rPr lang="en-US" sz="1200" dirty="0"/>
              <a:t> </a:t>
            </a:r>
            <a:r>
              <a:rPr lang="en-US" sz="1200" dirty="0" err="1"/>
              <a:t>yöntemlerin</a:t>
            </a:r>
            <a:r>
              <a:rPr lang="en-US" sz="1200" dirty="0"/>
              <a:t> </a:t>
            </a:r>
            <a:r>
              <a:rPr lang="en-US" sz="1200" dirty="0" err="1"/>
              <a:t>yetersiz</a:t>
            </a:r>
            <a:r>
              <a:rPr lang="en-US" sz="1200" dirty="0"/>
              <a:t> </a:t>
            </a:r>
            <a:r>
              <a:rPr lang="en-US" sz="1200" dirty="0" err="1"/>
              <a:t>kaldığı</a:t>
            </a:r>
            <a:r>
              <a:rPr lang="en-US" sz="1200" dirty="0"/>
              <a:t> </a:t>
            </a:r>
            <a:r>
              <a:rPr lang="en-US" sz="1200" dirty="0" err="1"/>
              <a:t>günümüz</a:t>
            </a:r>
            <a:r>
              <a:rPr lang="en-US" sz="1200" dirty="0"/>
              <a:t> </a:t>
            </a:r>
            <a:r>
              <a:rPr lang="en-US" sz="1200" dirty="0" err="1"/>
              <a:t>ses</a:t>
            </a:r>
            <a:r>
              <a:rPr lang="en-US" sz="1200" dirty="0"/>
              <a:t> </a:t>
            </a:r>
            <a:r>
              <a:rPr lang="en-US" sz="1200" dirty="0" err="1"/>
              <a:t>sistemlerinde</a:t>
            </a:r>
            <a:r>
              <a:rPr lang="en-US" sz="1200" dirty="0"/>
              <a:t>, </a:t>
            </a:r>
            <a:r>
              <a:rPr lang="en-US" sz="1200" dirty="0" err="1"/>
              <a:t>yapay</a:t>
            </a:r>
            <a:r>
              <a:rPr lang="en-US" sz="1200" dirty="0"/>
              <a:t> </a:t>
            </a:r>
            <a:r>
              <a:rPr lang="en-US" sz="1200" dirty="0" err="1"/>
              <a:t>zekâ</a:t>
            </a:r>
            <a:r>
              <a:rPr lang="en-US" sz="1200" dirty="0"/>
              <a:t> </a:t>
            </a:r>
            <a:r>
              <a:rPr lang="en-US" sz="1200" dirty="0" err="1"/>
              <a:t>tabanlı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gürültü</a:t>
            </a:r>
            <a:r>
              <a:rPr lang="en-US" sz="1200" dirty="0"/>
              <a:t> </a:t>
            </a:r>
            <a:r>
              <a:rPr lang="en-US" sz="1200" dirty="0" err="1"/>
              <a:t>engelleme</a:t>
            </a:r>
            <a:r>
              <a:rPr lang="en-US" sz="1200" dirty="0"/>
              <a:t> </a:t>
            </a:r>
            <a:r>
              <a:rPr lang="en-US" sz="1200" dirty="0" err="1"/>
              <a:t>çözümü</a:t>
            </a:r>
            <a:r>
              <a:rPr lang="en-US" sz="1200" dirty="0"/>
              <a:t> </a:t>
            </a:r>
            <a:r>
              <a:rPr lang="en-US" sz="1200" dirty="0" err="1"/>
              <a:t>geliştirmektir</a:t>
            </a:r>
            <a:r>
              <a:rPr lang="en-US" sz="1200" dirty="0"/>
              <a:t>. </a:t>
            </a:r>
            <a:r>
              <a:rPr lang="en-US" sz="1200" dirty="0" err="1"/>
              <a:t>Projenin</a:t>
            </a:r>
            <a:r>
              <a:rPr lang="en-US" sz="1200" dirty="0"/>
              <a:t> </a:t>
            </a:r>
            <a:r>
              <a:rPr lang="en-US" sz="1200" dirty="0" err="1"/>
              <a:t>temel</a:t>
            </a:r>
            <a:r>
              <a:rPr lang="en-US" sz="1200" dirty="0"/>
              <a:t> </a:t>
            </a:r>
            <a:r>
              <a:rPr lang="en-US" sz="1200" dirty="0" err="1"/>
              <a:t>amacı</a:t>
            </a:r>
            <a:r>
              <a:rPr lang="en-US" sz="1200" dirty="0"/>
              <a:t>, </a:t>
            </a:r>
            <a:r>
              <a:rPr lang="en-US" sz="1200" dirty="0" err="1"/>
              <a:t>arka</a:t>
            </a:r>
            <a:r>
              <a:rPr lang="en-US" sz="1200" dirty="0"/>
              <a:t> plan </a:t>
            </a:r>
            <a:r>
              <a:rPr lang="en-US" sz="1200" dirty="0" err="1"/>
              <a:t>gürültülerini</a:t>
            </a:r>
            <a:r>
              <a:rPr lang="en-US" sz="1200" dirty="0"/>
              <a:t> </a:t>
            </a:r>
            <a:r>
              <a:rPr lang="en-US" sz="1200" dirty="0" err="1"/>
              <a:t>etkili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şekilde</a:t>
            </a:r>
            <a:r>
              <a:rPr lang="en-US" sz="1200" dirty="0"/>
              <a:t> </a:t>
            </a:r>
            <a:r>
              <a:rPr lang="en-US" sz="1200" dirty="0" err="1"/>
              <a:t>filtreleyerek</a:t>
            </a:r>
            <a:r>
              <a:rPr lang="en-US" sz="1200" dirty="0"/>
              <a:t> </a:t>
            </a:r>
            <a:r>
              <a:rPr lang="en-US" sz="1200" dirty="0" err="1"/>
              <a:t>iletişim</a:t>
            </a:r>
            <a:r>
              <a:rPr lang="en-US" sz="1200" dirty="0"/>
              <a:t> </a:t>
            </a:r>
            <a:r>
              <a:rPr lang="en-US" sz="1200" dirty="0" err="1"/>
              <a:t>kalitesini</a:t>
            </a:r>
            <a:r>
              <a:rPr lang="en-US" sz="1200" dirty="0"/>
              <a:t> </a:t>
            </a:r>
            <a:r>
              <a:rPr lang="en-US" sz="1200" dirty="0" err="1"/>
              <a:t>artırmaktır</a:t>
            </a:r>
            <a:r>
              <a:rPr lang="en-US" sz="1200" dirty="0"/>
              <a:t>. Bu </a:t>
            </a:r>
            <a:r>
              <a:rPr lang="en-US" sz="1200" dirty="0" err="1"/>
              <a:t>doğrultuda</a:t>
            </a:r>
            <a:r>
              <a:rPr lang="en-US" sz="1200" dirty="0"/>
              <a:t>, </a:t>
            </a:r>
            <a:r>
              <a:rPr lang="en-US" sz="1200" dirty="0" err="1"/>
              <a:t>difüzyon</a:t>
            </a:r>
            <a:r>
              <a:rPr lang="en-US" sz="1200" dirty="0"/>
              <a:t> </a:t>
            </a:r>
            <a:r>
              <a:rPr lang="en-US" sz="1200" dirty="0" err="1"/>
              <a:t>modellerine</a:t>
            </a:r>
            <a:r>
              <a:rPr lang="en-US" sz="1200" dirty="0"/>
              <a:t> </a:t>
            </a:r>
            <a:r>
              <a:rPr lang="en-US" sz="1200" dirty="0" err="1"/>
              <a:t>koşul</a:t>
            </a:r>
            <a:r>
              <a:rPr lang="en-US" sz="1200" dirty="0"/>
              <a:t> </a:t>
            </a:r>
            <a:r>
              <a:rPr lang="en-US" sz="1200" dirty="0" err="1"/>
              <a:t>bilgisini</a:t>
            </a:r>
            <a:r>
              <a:rPr lang="en-US" sz="1200" dirty="0"/>
              <a:t> </a:t>
            </a:r>
            <a:r>
              <a:rPr lang="en-US" sz="1200" dirty="0" err="1"/>
              <a:t>daha</a:t>
            </a:r>
            <a:r>
              <a:rPr lang="en-US" sz="1200" dirty="0"/>
              <a:t> </a:t>
            </a:r>
            <a:r>
              <a:rPr lang="en-US" sz="1200" dirty="0" err="1"/>
              <a:t>etkin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şekilde</a:t>
            </a:r>
            <a:r>
              <a:rPr lang="en-US" sz="1200" dirty="0"/>
              <a:t> </a:t>
            </a:r>
            <a:r>
              <a:rPr lang="en-US" sz="1200" dirty="0" err="1"/>
              <a:t>dahil</a:t>
            </a:r>
            <a:r>
              <a:rPr lang="en-US" sz="1200" dirty="0"/>
              <a:t> </a:t>
            </a:r>
            <a:r>
              <a:rPr lang="en-US" sz="1200" dirty="0" err="1"/>
              <a:t>eden</a:t>
            </a:r>
            <a:r>
              <a:rPr lang="en-US" sz="1200" dirty="0"/>
              <a:t> DOSE (Diffusion Dropout with Adaptive Prior for Speech Enhancement)[</a:t>
            </a:r>
            <a:r>
              <a:rPr lang="tr-TR" sz="1200" dirty="0"/>
              <a:t>2</a:t>
            </a:r>
            <a:r>
              <a:rPr lang="en-US" sz="1200" dirty="0"/>
              <a:t>] </a:t>
            </a:r>
            <a:r>
              <a:rPr lang="en-US" sz="1200" dirty="0" err="1"/>
              <a:t>mimarisi</a:t>
            </a:r>
            <a:r>
              <a:rPr lang="en-US" sz="1200" dirty="0"/>
              <a:t> </a:t>
            </a:r>
            <a:r>
              <a:rPr lang="en-US" sz="1200" dirty="0" err="1"/>
              <a:t>kullanılmıştır</a:t>
            </a:r>
            <a:r>
              <a:rPr lang="en-US" sz="1200" dirty="0"/>
              <a:t>. Bu </a:t>
            </a:r>
            <a:r>
              <a:rPr lang="en-US" sz="1200" dirty="0" err="1"/>
              <a:t>mimari</a:t>
            </a:r>
            <a:r>
              <a:rPr lang="en-US" sz="1200" dirty="0"/>
              <a:t>, </a:t>
            </a:r>
            <a:r>
              <a:rPr lang="en-US" sz="1200" dirty="0" err="1"/>
              <a:t>gürültülü</a:t>
            </a:r>
            <a:r>
              <a:rPr lang="en-US" sz="1200" dirty="0"/>
              <a:t> </a:t>
            </a:r>
            <a:r>
              <a:rPr lang="en-US" sz="1200" dirty="0" err="1"/>
              <a:t>ses</a:t>
            </a:r>
            <a:r>
              <a:rPr lang="en-US" sz="1200" dirty="0"/>
              <a:t> </a:t>
            </a:r>
            <a:r>
              <a:rPr lang="en-US" sz="1200" dirty="0" err="1"/>
              <a:t>dalga</a:t>
            </a:r>
            <a:r>
              <a:rPr lang="en-US" sz="1200" dirty="0"/>
              <a:t> </a:t>
            </a:r>
            <a:r>
              <a:rPr lang="en-US" sz="1200" dirty="0" err="1"/>
              <a:t>formunu</a:t>
            </a:r>
            <a:r>
              <a:rPr lang="en-US" sz="1200" dirty="0"/>
              <a:t> </a:t>
            </a:r>
            <a:r>
              <a:rPr lang="en-US" sz="1200" dirty="0" err="1"/>
              <a:t>kullanarak</a:t>
            </a:r>
            <a:r>
              <a:rPr lang="en-US" sz="1200" dirty="0"/>
              <a:t> </a:t>
            </a:r>
            <a:r>
              <a:rPr lang="en-US" sz="1200" dirty="0" err="1"/>
              <a:t>ses</a:t>
            </a:r>
            <a:r>
              <a:rPr lang="en-US" sz="1200" dirty="0"/>
              <a:t> </a:t>
            </a:r>
            <a:r>
              <a:rPr lang="en-US" sz="1200" dirty="0" err="1"/>
              <a:t>kalitesini</a:t>
            </a:r>
            <a:r>
              <a:rPr lang="en-US" sz="1200" dirty="0"/>
              <a:t> </a:t>
            </a:r>
            <a:r>
              <a:rPr lang="en-US" sz="1200" dirty="0" err="1"/>
              <a:t>ve</a:t>
            </a:r>
            <a:r>
              <a:rPr lang="en-US" sz="1200" dirty="0"/>
              <a:t> </a:t>
            </a:r>
            <a:r>
              <a:rPr lang="en-US" sz="1200" dirty="0" err="1"/>
              <a:t>anlaşılırlığını</a:t>
            </a:r>
            <a:r>
              <a:rPr lang="en-US" sz="1200" dirty="0"/>
              <a:t> </a:t>
            </a:r>
            <a:r>
              <a:rPr lang="en-US" sz="1200" dirty="0" err="1"/>
              <a:t>artırmayı</a:t>
            </a:r>
            <a:r>
              <a:rPr lang="en-US" sz="1200" dirty="0"/>
              <a:t> </a:t>
            </a:r>
            <a:r>
              <a:rPr lang="en-US" sz="1200" dirty="0" err="1"/>
              <a:t>hedefler</a:t>
            </a:r>
            <a:r>
              <a:rPr lang="en-US" sz="1200" dirty="0"/>
              <a:t>. </a:t>
            </a:r>
            <a:r>
              <a:rPr lang="en-US" sz="1200" dirty="0" err="1"/>
              <a:t>Projenin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önemli</a:t>
            </a:r>
            <a:r>
              <a:rPr lang="en-US" sz="1200" dirty="0"/>
              <a:t> </a:t>
            </a:r>
            <a:r>
              <a:rPr lang="en-US" sz="1200" dirty="0" err="1"/>
              <a:t>yeniliği</a:t>
            </a:r>
            <a:r>
              <a:rPr lang="en-US" sz="1200" dirty="0"/>
              <a:t>, </a:t>
            </a:r>
            <a:r>
              <a:rPr lang="en-US" sz="1200" dirty="0" err="1"/>
              <a:t>bu</a:t>
            </a:r>
            <a:r>
              <a:rPr lang="en-US" sz="1200" dirty="0"/>
              <a:t> </a:t>
            </a:r>
            <a:r>
              <a:rPr lang="en-US" sz="1200" dirty="0" err="1"/>
              <a:t>modelin</a:t>
            </a:r>
            <a:r>
              <a:rPr lang="en-US" sz="1200" dirty="0"/>
              <a:t> </a:t>
            </a:r>
            <a:r>
              <a:rPr lang="en-US" sz="1200" dirty="0" err="1"/>
              <a:t>Türkçe</a:t>
            </a:r>
            <a:r>
              <a:rPr lang="en-US" sz="1200" dirty="0"/>
              <a:t> </a:t>
            </a:r>
            <a:r>
              <a:rPr lang="en-US" sz="1200" dirty="0" err="1"/>
              <a:t>konuşma</a:t>
            </a:r>
            <a:r>
              <a:rPr lang="en-US" sz="1200" dirty="0"/>
              <a:t> </a:t>
            </a:r>
            <a:r>
              <a:rPr lang="en-US" sz="1200" dirty="0" err="1"/>
              <a:t>verilerine</a:t>
            </a:r>
            <a:r>
              <a:rPr lang="en-US" sz="1200" dirty="0"/>
              <a:t> </a:t>
            </a:r>
            <a:r>
              <a:rPr lang="en-US" sz="1200" dirty="0" err="1"/>
              <a:t>özel</a:t>
            </a:r>
            <a:r>
              <a:rPr lang="en-US" sz="1200" dirty="0"/>
              <a:t> </a:t>
            </a:r>
            <a:r>
              <a:rPr lang="en-US" sz="1200" dirty="0" err="1"/>
              <a:t>olarak</a:t>
            </a:r>
            <a:r>
              <a:rPr lang="en-US" sz="1200" dirty="0"/>
              <a:t> </a:t>
            </a:r>
            <a:r>
              <a:rPr lang="en-US" sz="1200" dirty="0" err="1"/>
              <a:t>sentetik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veri</a:t>
            </a:r>
            <a:r>
              <a:rPr lang="en-US" sz="1200" dirty="0"/>
              <a:t> </a:t>
            </a:r>
            <a:r>
              <a:rPr lang="en-US" sz="1200" dirty="0" err="1"/>
              <a:t>seti</a:t>
            </a:r>
            <a:r>
              <a:rPr lang="en-US" sz="1200" dirty="0"/>
              <a:t> </a:t>
            </a:r>
            <a:r>
              <a:rPr lang="en-US" sz="1200" dirty="0" err="1"/>
              <a:t>oluşturarak</a:t>
            </a:r>
            <a:r>
              <a:rPr lang="en-US" sz="1200" dirty="0"/>
              <a:t> </a:t>
            </a:r>
            <a:r>
              <a:rPr lang="en-US" sz="1200" dirty="0" err="1"/>
              <a:t>mevcut</a:t>
            </a:r>
            <a:r>
              <a:rPr lang="en-US" sz="1200" dirty="0"/>
              <a:t> </a:t>
            </a:r>
            <a:r>
              <a:rPr lang="en-US" sz="1200" dirty="0" err="1"/>
              <a:t>modellerin</a:t>
            </a:r>
            <a:r>
              <a:rPr lang="en-US" sz="1200" dirty="0"/>
              <a:t> </a:t>
            </a:r>
            <a:r>
              <a:rPr lang="en-US" sz="1200" dirty="0" err="1"/>
              <a:t>Türkçe</a:t>
            </a:r>
            <a:r>
              <a:rPr lang="en-US" sz="1200" dirty="0"/>
              <a:t> </a:t>
            </a:r>
            <a:r>
              <a:rPr lang="en-US" sz="1200" dirty="0" err="1"/>
              <a:t>kaynak</a:t>
            </a:r>
            <a:r>
              <a:rPr lang="en-US" sz="1200" dirty="0"/>
              <a:t> </a:t>
            </a:r>
            <a:r>
              <a:rPr lang="en-US" sz="1200" dirty="0" err="1"/>
              <a:t>eksikliğini</a:t>
            </a:r>
            <a:r>
              <a:rPr lang="en-US" sz="1200" dirty="0"/>
              <a:t> </a:t>
            </a:r>
            <a:r>
              <a:rPr lang="en-US" sz="1200" dirty="0" err="1"/>
              <a:t>gidermesidir</a:t>
            </a:r>
            <a:r>
              <a:rPr lang="en-US" sz="1200" dirty="0"/>
              <a:t>. </a:t>
            </a:r>
            <a:r>
              <a:rPr lang="en-US" sz="1200" dirty="0" err="1"/>
              <a:t>Modelin</a:t>
            </a:r>
            <a:r>
              <a:rPr lang="en-US" sz="1200" dirty="0"/>
              <a:t> </a:t>
            </a:r>
            <a:r>
              <a:rPr lang="en-US" sz="1200" dirty="0" err="1"/>
              <a:t>performansı</a:t>
            </a:r>
            <a:r>
              <a:rPr lang="en-US" sz="1200" dirty="0"/>
              <a:t>, </a:t>
            </a:r>
            <a:r>
              <a:rPr lang="en-US" sz="1200" dirty="0" err="1"/>
              <a:t>bu</a:t>
            </a:r>
            <a:r>
              <a:rPr lang="en-US" sz="1200" dirty="0"/>
              <a:t> </a:t>
            </a:r>
            <a:r>
              <a:rPr lang="en-US" sz="1200" dirty="0" err="1"/>
              <a:t>özel</a:t>
            </a:r>
            <a:r>
              <a:rPr lang="en-US" sz="1200" dirty="0"/>
              <a:t> </a:t>
            </a:r>
            <a:r>
              <a:rPr lang="en-US" sz="1200" dirty="0" err="1"/>
              <a:t>veri</a:t>
            </a:r>
            <a:r>
              <a:rPr lang="en-US" sz="1200" dirty="0"/>
              <a:t> </a:t>
            </a:r>
            <a:r>
              <a:rPr lang="en-US" sz="1200" dirty="0" err="1"/>
              <a:t>setiyle</a:t>
            </a:r>
            <a:r>
              <a:rPr lang="en-US" sz="1200" dirty="0"/>
              <a:t> </a:t>
            </a:r>
            <a:r>
              <a:rPr lang="en-US" sz="1200" dirty="0" err="1"/>
              <a:t>eğitilmiş</a:t>
            </a:r>
            <a:r>
              <a:rPr lang="en-US" sz="1200" dirty="0"/>
              <a:t> </a:t>
            </a:r>
            <a:r>
              <a:rPr lang="en-US" sz="1200" dirty="0" err="1"/>
              <a:t>ve</a:t>
            </a:r>
            <a:r>
              <a:rPr lang="en-US" sz="1200" dirty="0"/>
              <a:t> </a:t>
            </a:r>
            <a:r>
              <a:rPr lang="en-US" sz="1200" dirty="0" err="1"/>
              <a:t>değerlendirilmiştir</a:t>
            </a:r>
            <a:r>
              <a:rPr lang="en-US" sz="1200" dirty="0"/>
              <a:t>.</a:t>
            </a:r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E3AFADBC-BE76-F2C1-437A-975028FC376F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8E75E042-2D1D-056D-EE92-BD1FA5952B93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FF6D598-6180-5B9E-EA70-6F919C54F1B8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B427C221-16F2-7CAD-6561-CC57FB9EE582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1EB94707-35F5-F1F3-8FA6-EA8B60F83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A0023723-F611-BB33-6CEC-4E672A61087B}"/>
                </a:ext>
              </a:extLst>
            </p:cNvPr>
            <p:cNvSpPr txBox="1"/>
            <p:nvPr/>
          </p:nvSpPr>
          <p:spPr>
            <a:xfrm>
              <a:off x="28834" y="4892516"/>
              <a:ext cx="15256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92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DDEB-D47E-CA0D-62E6-199D1FC9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84A0EED-5B45-97BD-22D3-849FD67C0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33B6A279-8261-82F7-DC17-E03118184D5F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3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CA68EB0A-A393-62EA-E55C-FEDFED1DF4D8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6068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Literatür Taraması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BC73CB37-032A-D6E6-48EB-43261A7C65BC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just">
              <a:buClr>
                <a:schemeClr val="dk1"/>
              </a:buClr>
              <a:buSzPts val="1100"/>
            </a:pPr>
            <a:endParaRPr lang="en-US" sz="12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AF064D99-C303-4719-7836-732FE55CCF3B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D060DAAD-851B-0479-1F91-0A431564093B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0195EA3-4723-9FB8-B800-D41A040C9222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3D013C8B-DD34-F028-AB34-862246FCD966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A3FDABA9-BE45-DA43-ACDE-86352B0A5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23AB52AD-AD31-B722-6125-391340189EC0}"/>
                </a:ext>
              </a:extLst>
            </p:cNvPr>
            <p:cNvSpPr txBox="1"/>
            <p:nvPr/>
          </p:nvSpPr>
          <p:spPr>
            <a:xfrm>
              <a:off x="28834" y="4892516"/>
              <a:ext cx="154393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52D178-C4E9-3991-C697-FB0C2BB7A51A}"/>
              </a:ext>
            </a:extLst>
          </p:cNvPr>
          <p:cNvSpPr txBox="1"/>
          <p:nvPr/>
        </p:nvSpPr>
        <p:spPr>
          <a:xfrm>
            <a:off x="2147060" y="732971"/>
            <a:ext cx="602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sz="1400" dirty="0"/>
              <a:t>1- </a:t>
            </a:r>
            <a:r>
              <a:rPr lang="en-US" dirty="0"/>
              <a:t>EARS: An Anechoic </a:t>
            </a:r>
            <a:r>
              <a:rPr lang="en-US" dirty="0" err="1"/>
              <a:t>Fullband</a:t>
            </a:r>
            <a:r>
              <a:rPr lang="en-US" dirty="0"/>
              <a:t> Speech Dataset Benchmarked for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dirty="0"/>
              <a:t>Speech Enhancement and Dereverberation[</a:t>
            </a:r>
            <a:r>
              <a:rPr lang="tr-TR" dirty="0"/>
              <a:t>1</a:t>
            </a:r>
            <a:r>
              <a:rPr lang="en-US" dirty="0"/>
              <a:t>]</a:t>
            </a:r>
            <a:endParaRPr lang="en-US" sz="1400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FE18DC2D-7CEB-73F4-1686-697813B43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621583"/>
            <a:ext cx="6431280" cy="1557576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DBFEED90-E127-363D-F6E2-D1C975714F98}"/>
              </a:ext>
            </a:extLst>
          </p:cNvPr>
          <p:cNvSpPr txBox="1"/>
          <p:nvPr/>
        </p:nvSpPr>
        <p:spPr>
          <a:xfrm>
            <a:off x="2147060" y="3285744"/>
            <a:ext cx="6155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Tablo 1:EARS </a:t>
            </a:r>
            <a:r>
              <a:rPr lang="en-US" sz="800" dirty="0" err="1"/>
              <a:t>ile</a:t>
            </a:r>
            <a:r>
              <a:rPr lang="en-US" sz="800" dirty="0"/>
              <a:t> </a:t>
            </a:r>
            <a:r>
              <a:rPr lang="en-US" sz="800" dirty="0" err="1"/>
              <a:t>Farkl</a:t>
            </a:r>
            <a:r>
              <a:rPr lang="tr-TR" sz="800" dirty="0"/>
              <a:t>ı</a:t>
            </a:r>
            <a:r>
              <a:rPr lang="en-US" sz="800" dirty="0"/>
              <a:t> Veri </a:t>
            </a:r>
            <a:r>
              <a:rPr lang="en-US" sz="800" dirty="0" err="1"/>
              <a:t>Setlerinin</a:t>
            </a:r>
            <a:r>
              <a:rPr lang="en-US" sz="800" dirty="0"/>
              <a:t> Kar</a:t>
            </a:r>
            <a:r>
              <a:rPr lang="tr-TR" sz="800" dirty="0" err="1"/>
              <a:t>şı</a:t>
            </a:r>
            <a:r>
              <a:rPr lang="en-US" sz="800" dirty="0"/>
              <a:t>la</a:t>
            </a:r>
            <a:r>
              <a:rPr lang="tr-TR" sz="800" dirty="0"/>
              <a:t>ş</a:t>
            </a:r>
            <a:r>
              <a:rPr lang="en-US" sz="800" dirty="0"/>
              <a:t>t</a:t>
            </a:r>
            <a:r>
              <a:rPr lang="tr-TR" sz="800" dirty="0"/>
              <a:t>ı</a:t>
            </a:r>
            <a:r>
              <a:rPr lang="en-US" sz="800" dirty="0"/>
              <a:t>r</a:t>
            </a:r>
            <a:r>
              <a:rPr lang="tr-TR" sz="800" dirty="0"/>
              <a:t>ı</a:t>
            </a:r>
            <a:r>
              <a:rPr lang="en-US" sz="800" dirty="0" err="1"/>
              <a:t>lmas</a:t>
            </a:r>
            <a:r>
              <a:rPr lang="tr-TR" sz="800" dirty="0"/>
              <a:t>ı</a:t>
            </a:r>
            <a:r>
              <a:rPr lang="en-US" sz="800" dirty="0"/>
              <a:t> [Richter, J., Wu, Y. C., Krenn, S., Welker, S., Lay, B., Watanabe, S., ... &amp; </a:t>
            </a:r>
            <a:r>
              <a:rPr lang="en-US" sz="800" dirty="0" err="1"/>
              <a:t>Gerkmann</a:t>
            </a:r>
            <a:r>
              <a:rPr lang="en-US" sz="800" dirty="0"/>
              <a:t>, T. (2024). EARS: An anechoic </a:t>
            </a:r>
            <a:r>
              <a:rPr lang="en-US" sz="800" dirty="0" err="1"/>
              <a:t>fullband</a:t>
            </a:r>
            <a:r>
              <a:rPr lang="en-US" sz="800" dirty="0"/>
              <a:t> speech dataset benchmarked for speech enhancement and dereverberation. </a:t>
            </a:r>
            <a:r>
              <a:rPr lang="en-US" sz="800" dirty="0" err="1"/>
              <a:t>arXiv</a:t>
            </a:r>
            <a:r>
              <a:rPr lang="en-US" sz="800" dirty="0"/>
              <a:t> preprint arXiv:2406.06185.]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101951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1438-98E9-52DC-EE70-8287C338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885A555-1C24-BBEF-81DA-13233740B9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FB9E0173-DDF0-1241-E93F-609E1F7DA304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4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C183D2DC-F3D1-FF2A-6B2B-2969D49D6AB6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6068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Literatür Taraması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A2B32BDE-F043-DE23-0E46-3513CF93BC21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just">
              <a:buClr>
                <a:schemeClr val="dk1"/>
              </a:buClr>
              <a:buSzPts val="1100"/>
            </a:pPr>
            <a:endParaRPr lang="en-US" sz="12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14CB8264-A2BF-C9D3-F214-D3CE6825094F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ED3A92DB-EC07-24A0-6BC2-14DB97C26A19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F9EDA7-0AA6-BD98-4512-88FDD0A3F75E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DEA00040-0EC7-3929-1F6E-36C674057935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D824097E-558A-EEB6-D0EB-4426D0F8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FC19CA20-D128-DF93-DC78-1FF7DCB7C167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4" name="Metin kutusu 3">
            <a:extLst>
              <a:ext uri="{FF2B5EF4-FFF2-40B4-BE49-F238E27FC236}">
                <a16:creationId xmlns:a16="http://schemas.microsoft.com/office/drawing/2014/main" id="{FF82B3FD-63B0-C0F8-6F82-3ACCE2C1665B}"/>
              </a:ext>
            </a:extLst>
          </p:cNvPr>
          <p:cNvSpPr txBox="1"/>
          <p:nvPr/>
        </p:nvSpPr>
        <p:spPr>
          <a:xfrm>
            <a:off x="2147060" y="732971"/>
            <a:ext cx="6024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dirty="0"/>
              <a:t>2</a:t>
            </a:r>
            <a:r>
              <a:rPr lang="en-US" sz="1400" dirty="0"/>
              <a:t>- </a:t>
            </a:r>
            <a:r>
              <a:rPr lang="it-IT" dirty="0"/>
              <a:t>DIFFWAVE: A V</a:t>
            </a:r>
            <a:r>
              <a:rPr lang="tr-TR" dirty="0" err="1"/>
              <a:t>ersatile</a:t>
            </a:r>
            <a:r>
              <a:rPr lang="it-IT" dirty="0"/>
              <a:t> Diffusion Model for Audio Synthesis[</a:t>
            </a:r>
            <a:r>
              <a:rPr lang="tr-TR" dirty="0"/>
              <a:t>4</a:t>
            </a:r>
            <a:r>
              <a:rPr lang="it-IT" dirty="0"/>
              <a:t>]</a:t>
            </a:r>
            <a:endParaRPr lang="en-US" sz="14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439BE47-71EE-77C4-0467-3ABD7F72F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1243986"/>
            <a:ext cx="5885094" cy="2244316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ACEBA367-CC25-DE93-733B-51D9CB7CB9FA}"/>
              </a:ext>
            </a:extLst>
          </p:cNvPr>
          <p:cNvSpPr txBox="1"/>
          <p:nvPr/>
        </p:nvSpPr>
        <p:spPr>
          <a:xfrm>
            <a:off x="2450592" y="3639312"/>
            <a:ext cx="5466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/>
              <a:t>Tablo 2</a:t>
            </a:r>
            <a:r>
              <a:rPr lang="en-US" sz="800" dirty="0"/>
              <a:t>: Model </a:t>
            </a:r>
            <a:r>
              <a:rPr lang="en-US" sz="800" dirty="0" err="1"/>
              <a:t>mimarilerinin</a:t>
            </a:r>
            <a:r>
              <a:rPr lang="en-US" sz="800" dirty="0"/>
              <a:t> </a:t>
            </a:r>
            <a:r>
              <a:rPr lang="en-US" sz="800" dirty="0" err="1"/>
              <a:t>kar</a:t>
            </a:r>
            <a:r>
              <a:rPr lang="tr-TR" sz="800" dirty="0" err="1"/>
              <a:t>şı</a:t>
            </a:r>
            <a:r>
              <a:rPr lang="en-US" sz="800" dirty="0"/>
              <a:t>la</a:t>
            </a:r>
            <a:r>
              <a:rPr lang="tr-TR" sz="800" dirty="0"/>
              <a:t>ş</a:t>
            </a:r>
            <a:r>
              <a:rPr lang="en-US" sz="800" dirty="0"/>
              <a:t>t</a:t>
            </a:r>
            <a:r>
              <a:rPr lang="tr-TR" sz="800" dirty="0"/>
              <a:t>ı</a:t>
            </a:r>
            <a:r>
              <a:rPr lang="en-US" sz="800" dirty="0"/>
              <a:t>r</a:t>
            </a:r>
            <a:r>
              <a:rPr lang="tr-TR" sz="800" dirty="0"/>
              <a:t>ı</a:t>
            </a:r>
            <a:r>
              <a:rPr lang="en-US" sz="800" dirty="0" err="1"/>
              <a:t>lmas</a:t>
            </a:r>
            <a:r>
              <a:rPr lang="tr-TR" sz="800" dirty="0"/>
              <a:t>ı</a:t>
            </a:r>
            <a:r>
              <a:rPr lang="en-US" sz="800" dirty="0"/>
              <a:t> [Kong, Z., Ping, W., Huang, J., Zhao, K., &amp; Catanzaro, B. (2020). </a:t>
            </a:r>
            <a:r>
              <a:rPr lang="en-US" sz="800" dirty="0" err="1"/>
              <a:t>Diffwave</a:t>
            </a:r>
            <a:r>
              <a:rPr lang="en-US" sz="800" dirty="0"/>
              <a:t>: A versatile diffusion model for audio synthesis. </a:t>
            </a:r>
            <a:r>
              <a:rPr lang="en-US" sz="800" dirty="0" err="1"/>
              <a:t>arXiv</a:t>
            </a:r>
            <a:r>
              <a:rPr lang="en-US" sz="800" dirty="0"/>
              <a:t> preprint arXiv:2009.09761.]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326797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40A3-EAC3-DA61-55ED-061F0A86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82C172D-3F79-9BB9-9C2F-3A8A83586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E06911C0-4BE2-1949-0922-3F7D5DFC35A4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5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BF0BC138-2C15-370E-29D6-A1629F13A088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6068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Referans Alınan Makale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C6D07757-E532-AD1B-A966-9F6CB0DE8D9A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tr-TR" sz="1600" dirty="0"/>
              <a:t> </a:t>
            </a:r>
            <a:endParaRPr lang="en-US" sz="12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04C7ACD0-ED33-A406-8191-C63E6176AF60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A3FAC923-4D11-C430-5E81-58D744A3558E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6B6A824-0F6B-791C-D4ED-BD22DF85AD89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A8393AF2-F5D4-5C58-C76A-230E9308ECA7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5BD4BA74-0481-B35A-7B2B-6AA85A3A9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8405C299-152D-8A23-FF7B-46AE4A0ADE26}"/>
                </a:ext>
              </a:extLst>
            </p:cNvPr>
            <p:cNvSpPr txBox="1"/>
            <p:nvPr/>
          </p:nvSpPr>
          <p:spPr>
            <a:xfrm>
              <a:off x="28834" y="4892516"/>
              <a:ext cx="151345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3D6A133-5323-D571-0EDA-A4122D51E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428062"/>
              </p:ext>
            </p:extLst>
          </p:nvPr>
        </p:nvGraphicFramePr>
        <p:xfrm>
          <a:off x="2549178" y="154748"/>
          <a:ext cx="4831633" cy="4296798"/>
        </p:xfrm>
        <a:graphic>
          <a:graphicData uri="http://schemas.openxmlformats.org/drawingml/2006/table">
            <a:tbl>
              <a:tblPr firstRow="1" firstCol="1" bandRow="1">
                <a:tableStyleId>{529A4B8C-1379-4C00-B28D-6DC4FF4FD505}</a:tableStyleId>
              </a:tblPr>
              <a:tblGrid>
                <a:gridCol w="1855632">
                  <a:extLst>
                    <a:ext uri="{9D8B030D-6E8A-4147-A177-3AD203B41FA5}">
                      <a16:colId xmlns:a16="http://schemas.microsoft.com/office/drawing/2014/main" val="3031373584"/>
                    </a:ext>
                  </a:extLst>
                </a:gridCol>
                <a:gridCol w="2976001">
                  <a:extLst>
                    <a:ext uri="{9D8B030D-6E8A-4147-A177-3AD203B41FA5}">
                      <a16:colId xmlns:a16="http://schemas.microsoft.com/office/drawing/2014/main" val="2034466708"/>
                    </a:ext>
                  </a:extLst>
                </a:gridCol>
              </a:tblGrid>
              <a:tr h="2472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Makale İsmi: 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DOSE : </a:t>
                      </a:r>
                      <a:r>
                        <a:rPr lang="tr-TR" sz="800" kern="0" dirty="0" err="1">
                          <a:effectLst/>
                        </a:rPr>
                        <a:t>Diffusion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Dropout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with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Adaptive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Prior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for</a:t>
                      </a:r>
                      <a:r>
                        <a:rPr lang="tr-TR" sz="800" kern="0" dirty="0">
                          <a:effectLst/>
                        </a:rPr>
                        <a:t> Speech Enhancement  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4184841293"/>
                  </a:ext>
                </a:extLst>
              </a:tr>
              <a:tr h="15081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>
                          <a:effectLst/>
                        </a:rPr>
                        <a:t>Yayın Yılı: </a:t>
                      </a:r>
                      <a:endParaRPr lang="tr-TR" sz="8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2023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3178215494"/>
                  </a:ext>
                </a:extLst>
              </a:tr>
              <a:tr h="1208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>
                          <a:effectLst/>
                        </a:rPr>
                        <a:t>Yayınlandığı Dergi/Konferans:</a:t>
                      </a:r>
                      <a:endParaRPr lang="tr-TR" sz="8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 err="1">
                          <a:effectLst/>
                        </a:rPr>
                        <a:t>Advances</a:t>
                      </a:r>
                      <a:r>
                        <a:rPr lang="tr-TR" sz="800" kern="0" dirty="0">
                          <a:effectLst/>
                        </a:rPr>
                        <a:t> in </a:t>
                      </a:r>
                      <a:r>
                        <a:rPr lang="tr-TR" sz="800" kern="0" dirty="0" err="1">
                          <a:effectLst/>
                        </a:rPr>
                        <a:t>Neural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Informantion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Processing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Systems</a:t>
                      </a:r>
                      <a:r>
                        <a:rPr lang="tr-TR" sz="800" kern="0" dirty="0">
                          <a:effectLst/>
                        </a:rPr>
                        <a:t>, 36 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2188720781"/>
                  </a:ext>
                </a:extLst>
              </a:tr>
              <a:tr h="1208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>
                          <a:effectLst/>
                        </a:rPr>
                        <a:t>Atıf Sayısı:</a:t>
                      </a:r>
                      <a:endParaRPr lang="tr-TR" sz="8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24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3030077431"/>
                  </a:ext>
                </a:extLst>
              </a:tr>
              <a:tr h="11277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Ele Alınan Problem: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Bu makale, difüzyon modellerinin konuşma iyileştirmedeki genelleme ve aşırı temizlenme problemlerini ele almaktadır. Bu sorunları çözmek için, difüzyon modellerinde "</a:t>
                      </a:r>
                      <a:r>
                        <a:rPr lang="tr-TR" sz="800" kern="0" dirty="0" err="1">
                          <a:effectLst/>
                        </a:rPr>
                        <a:t>dropout</a:t>
                      </a:r>
                      <a:r>
                        <a:rPr lang="tr-TR" sz="800" kern="0" dirty="0">
                          <a:effectLst/>
                        </a:rPr>
                        <a:t>" ve uyarlanabilir önseli birleştiren DOSE çerçevesi önerilmektedir. DOSE, koşul bilgisini örnekleme sürecine daha etkin bir şekilde dahil ederek daha doğal ve iyi genellenebilen iyileştirilmiş konuşma üretme yeteneği sergilemektedir. 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3408703517"/>
                  </a:ext>
                </a:extLst>
              </a:tr>
              <a:tr h="3749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>
                          <a:effectLst/>
                        </a:rPr>
                        <a:t>Kullanılan Veri Seti (Belirtilmişse): </a:t>
                      </a:r>
                      <a:endParaRPr lang="tr-TR" sz="8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 err="1">
                          <a:effectLst/>
                        </a:rPr>
                        <a:t>Voicebank</a:t>
                      </a:r>
                      <a:r>
                        <a:rPr lang="tr-TR" sz="800" kern="0" dirty="0">
                          <a:effectLst/>
                        </a:rPr>
                        <a:t>-DEMAND</a:t>
                      </a:r>
                      <a:r>
                        <a:rPr lang="en-US" sz="800" kern="0" dirty="0">
                          <a:effectLst/>
                        </a:rPr>
                        <a:t>[</a:t>
                      </a:r>
                      <a:r>
                        <a:rPr lang="tr-TR" sz="800" kern="0" dirty="0">
                          <a:effectLst/>
                        </a:rPr>
                        <a:t>3</a:t>
                      </a:r>
                      <a:r>
                        <a:rPr lang="en-US" sz="800" kern="0" dirty="0">
                          <a:effectLst/>
                        </a:rPr>
                        <a:t>]</a:t>
                      </a:r>
                      <a:r>
                        <a:rPr lang="tr-TR" sz="800" kern="0" dirty="0">
                          <a:effectLst/>
                        </a:rPr>
                        <a:t> ve WSJO-CHIME4</a:t>
                      </a:r>
                      <a:r>
                        <a:rPr lang="en-US" sz="800" kern="0" dirty="0">
                          <a:effectLst/>
                        </a:rPr>
                        <a:t>[5]</a:t>
                      </a:r>
                      <a:endParaRPr lang="tr-TR" sz="8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600" kern="0" dirty="0">
                          <a:effectLst/>
                        </a:rPr>
                        <a:t> </a:t>
                      </a:r>
                      <a:endParaRPr lang="tr-TR" sz="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2485581184"/>
                  </a:ext>
                </a:extLst>
              </a:tr>
              <a:tr h="2141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Kullanılan Yaklaşımlar ve Algoritmalar: 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Bu makale, konuşma iyileştirmede difüzyon modellerinin karşılaştığı genelleme ve aşırı temizlenme sorunlarını ele almaktadır. Bu zorlukların üstesinden gelmek için, difüzyon modellerinde "</a:t>
                      </a:r>
                      <a:r>
                        <a:rPr lang="tr-TR" sz="800" kern="0" dirty="0" err="1">
                          <a:effectLst/>
                        </a:rPr>
                        <a:t>dropout</a:t>
                      </a:r>
                      <a:r>
                        <a:rPr lang="tr-TR" sz="800" kern="0" dirty="0">
                          <a:effectLst/>
                        </a:rPr>
                        <a:t>" ve uyarlanabilir önseli birleştiren DOSE (</a:t>
                      </a:r>
                      <a:r>
                        <a:rPr lang="tr-TR" sz="800" kern="0" dirty="0" err="1">
                          <a:effectLst/>
                        </a:rPr>
                        <a:t>Diffusion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Dropout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with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Adaptive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Prior</a:t>
                      </a:r>
                      <a:r>
                        <a:rPr lang="tr-TR" sz="800" kern="0" dirty="0">
                          <a:effectLst/>
                        </a:rPr>
                        <a:t> </a:t>
                      </a:r>
                      <a:r>
                        <a:rPr lang="tr-TR" sz="800" kern="0" dirty="0" err="1">
                          <a:effectLst/>
                        </a:rPr>
                        <a:t>for</a:t>
                      </a:r>
                      <a:r>
                        <a:rPr lang="tr-TR" sz="800" kern="0" dirty="0">
                          <a:effectLst/>
                        </a:rPr>
                        <a:t> Speech Enhancement) adlı bir çerçeve önerilmektedir. DOSE, koşul bilgisini örnekleme sürecine daha etkin bir şekilde dahil ederek, </a:t>
                      </a:r>
                      <a:r>
                        <a:rPr lang="tr-TR" sz="800" kern="0" dirty="0" err="1">
                          <a:effectLst/>
                        </a:rPr>
                        <a:t>Voicebank</a:t>
                      </a:r>
                      <a:r>
                        <a:rPr lang="tr-TR" sz="800" kern="0" dirty="0">
                          <a:effectLst/>
                        </a:rPr>
                        <a:t>-DEMAND ve WSJO-CHIME4 gibi veri setleri üzerinde yapılan testlerde mevcut modellerden daha doğal ve iyi genellenebilen iyileştirilmiş konuşma üretme yeteneği sergilemektedir.</a:t>
                      </a:r>
                      <a:endParaRPr lang="tr-TR" sz="8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600" kern="0" dirty="0">
                          <a:effectLst/>
                        </a:rPr>
                        <a:t> </a:t>
                      </a:r>
                      <a:endParaRPr lang="tr-TR" sz="6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600" kern="0" dirty="0">
                          <a:effectLst/>
                        </a:rPr>
                        <a:t> </a:t>
                      </a:r>
                      <a:endParaRPr lang="tr-TR" sz="6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600" kern="0" dirty="0">
                          <a:effectLst/>
                        </a:rPr>
                        <a:t> </a:t>
                      </a:r>
                      <a:endParaRPr lang="tr-TR" sz="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00" marR="37700" marT="0" marB="0"/>
                </a:tc>
                <a:extLst>
                  <a:ext uri="{0D108BD9-81ED-4DB2-BD59-A6C34878D82A}">
                    <a16:rowId xmlns:a16="http://schemas.microsoft.com/office/drawing/2014/main" val="97724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4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FE4D-EACA-A209-2381-08A2988E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B9C4E90-B743-D623-5546-6B378EB9A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C2ED1E72-45D8-2859-A9D8-55D791F0C853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6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1BF8F0B4-61A8-E48A-CEEE-966B9926A4A5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6068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Referans Alınan Makale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32CDF00A-B7C0-AE26-0499-1FF159B833B7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tr-TR" sz="1600" dirty="0"/>
              <a:t> </a:t>
            </a:r>
            <a:endParaRPr lang="en-US" sz="12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9C6700F5-C7F0-997A-4AFD-E05665FF7EA8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D1AD0E6-0C61-D117-1227-CCE6F149CC15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B2878B-AC92-676A-6A07-72E325509497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6D78BC59-E8B4-A8D6-39C4-AB585E2375A2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C7118068-2668-98CF-1B1B-86D6F041D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68242795-B78A-63C7-5905-1F1170654661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606344F1-1791-758C-D41B-14A855C42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406314"/>
              </p:ext>
            </p:extLst>
          </p:nvPr>
        </p:nvGraphicFramePr>
        <p:xfrm>
          <a:off x="2914438" y="254900"/>
          <a:ext cx="4933950" cy="2088910"/>
        </p:xfrm>
        <a:graphic>
          <a:graphicData uri="http://schemas.openxmlformats.org/drawingml/2006/table">
            <a:tbl>
              <a:tblPr firstRow="1" firstCol="1" bandRow="1">
                <a:tableStyleId>{529A4B8C-1379-4C00-B28D-6DC4FF4FD505}</a:tableStyleId>
              </a:tblPr>
              <a:tblGrid>
                <a:gridCol w="1894927">
                  <a:extLst>
                    <a:ext uri="{9D8B030D-6E8A-4147-A177-3AD203B41FA5}">
                      <a16:colId xmlns:a16="http://schemas.microsoft.com/office/drawing/2014/main" val="1897786100"/>
                    </a:ext>
                  </a:extLst>
                </a:gridCol>
                <a:gridCol w="3039023">
                  <a:extLst>
                    <a:ext uri="{9D8B030D-6E8A-4147-A177-3AD203B41FA5}">
                      <a16:colId xmlns:a16="http://schemas.microsoft.com/office/drawing/2014/main" val="363748402"/>
                    </a:ext>
                  </a:extLst>
                </a:gridCol>
              </a:tblGrid>
              <a:tr h="8086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Performans Değerlendirmesi: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237" marR="522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Eğitilen modelin performansı, literatürde yaygın olarak kullanılan objektif ölçütler olan Konuşma Kalitesinin Algısal Değerlendirmesi (PESQ), Kısa Sureli Objektif Anlaşılırlık (STOI), Segmental Sinyal-Gurultu Oranı (SSNR), Konuşma Sinyali Bozulmasının Ortalama Görüş Puanı Tahmini(CSIG), Arka Plan Gürültüsünün Rahatsız Ediciliğinin</a:t>
                      </a:r>
                      <a:r>
                        <a:rPr lang="en-US" sz="800" kern="0" dirty="0">
                          <a:effectLst/>
                        </a:rPr>
                        <a:t> </a:t>
                      </a:r>
                      <a:r>
                        <a:rPr lang="tr-TR" sz="800" kern="0" dirty="0">
                          <a:effectLst/>
                        </a:rPr>
                        <a:t>Tahmini (CBAK), Genel Etkinin Tahmini (COVL)</a:t>
                      </a:r>
                      <a:endParaRPr lang="tr-TR" sz="8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 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237" marR="52237" marT="0" marB="0"/>
                </a:tc>
                <a:extLst>
                  <a:ext uri="{0D108BD9-81ED-4DB2-BD59-A6C34878D82A}">
                    <a16:rowId xmlns:a16="http://schemas.microsoft.com/office/drawing/2014/main" val="4049054210"/>
                  </a:ext>
                </a:extLst>
              </a:tr>
              <a:tr h="95041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>
                          <a:effectLst/>
                        </a:rPr>
                        <a:t>Makalenin Eksik ve Geliştirilebilir Noktalarının Değerlendirilmesi</a:t>
                      </a:r>
                      <a:endParaRPr lang="tr-TR" sz="8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237" marR="522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800" kern="0" dirty="0">
                          <a:effectLst/>
                        </a:rPr>
                        <a:t>Makalede doğrudan "</a:t>
                      </a:r>
                      <a:r>
                        <a:rPr lang="tr-TR" sz="800" kern="0" dirty="0" err="1">
                          <a:effectLst/>
                        </a:rPr>
                        <a:t>Future</a:t>
                      </a:r>
                      <a:r>
                        <a:rPr lang="tr-TR" sz="800" kern="0" dirty="0">
                          <a:effectLst/>
                        </a:rPr>
                        <a:t> Works" başlığı altında bir bölüm bulunmamaktadır. Ancak, yapılan çalışmadaki önemli bir eksiklik olarak, kullanılan veri setlerinin (</a:t>
                      </a:r>
                      <a:r>
                        <a:rPr lang="tr-TR" sz="800" kern="0" dirty="0" err="1">
                          <a:effectLst/>
                        </a:rPr>
                        <a:t>Voicebank</a:t>
                      </a:r>
                      <a:r>
                        <a:rPr lang="tr-TR" sz="800" kern="0" dirty="0">
                          <a:effectLst/>
                        </a:rPr>
                        <a:t>-DEMAND ve WSJO-CHIME4) ağırlıklı olarak İngilizce olması ve modelin farklı dillerdeki performansının detaylı olarak incelenmemesi gösterilebilir. Bu durum, DOSE modelinin genellenebilirliğini ve farklı dil ortamlarındaki uygulanabilirliğini kısıtlamaktadır.</a:t>
                      </a:r>
                      <a:endParaRPr lang="tr-TR" sz="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237" marR="52237" marT="0" marB="0"/>
                </a:tc>
                <a:extLst>
                  <a:ext uri="{0D108BD9-81ED-4DB2-BD59-A6C34878D82A}">
                    <a16:rowId xmlns:a16="http://schemas.microsoft.com/office/drawing/2014/main" val="2701730891"/>
                  </a:ext>
                </a:extLst>
              </a:tr>
            </a:tbl>
          </a:graphicData>
        </a:graphic>
      </p:graphicFrame>
      <p:pic>
        <p:nvPicPr>
          <p:cNvPr id="5" name="Resim 1">
            <a:extLst>
              <a:ext uri="{FF2B5EF4-FFF2-40B4-BE49-F238E27FC236}">
                <a16:creationId xmlns:a16="http://schemas.microsoft.com/office/drawing/2014/main" id="{94E43570-2A93-4A7D-B25B-C68BCED62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339" y="2381334"/>
            <a:ext cx="4698147" cy="201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072A519B-9D0D-21D6-1A53-2104D4EC2BDF}"/>
              </a:ext>
            </a:extLst>
          </p:cNvPr>
          <p:cNvSpPr txBox="1"/>
          <p:nvPr/>
        </p:nvSpPr>
        <p:spPr>
          <a:xfrm>
            <a:off x="3021346" y="4377734"/>
            <a:ext cx="5554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Tablo 3 </a:t>
            </a:r>
            <a:r>
              <a:rPr lang="tr-TR" sz="800" dirty="0"/>
              <a:t> </a:t>
            </a:r>
            <a:r>
              <a:rPr lang="en-US" sz="800" dirty="0"/>
              <a:t>: </a:t>
            </a:r>
            <a:r>
              <a:rPr lang="en-US" sz="800" dirty="0" err="1"/>
              <a:t>Farkli</a:t>
            </a:r>
            <a:r>
              <a:rPr lang="en-US" sz="800" dirty="0"/>
              <a:t> </a:t>
            </a:r>
            <a:r>
              <a:rPr lang="en-US" sz="800" dirty="0" err="1"/>
              <a:t>difuzyon</a:t>
            </a:r>
            <a:r>
              <a:rPr lang="en-US" sz="800" dirty="0"/>
              <a:t> </a:t>
            </a:r>
            <a:r>
              <a:rPr lang="en-US" sz="800" dirty="0" err="1"/>
              <a:t>iyilestirmelerinin</a:t>
            </a:r>
            <a:r>
              <a:rPr lang="en-US" sz="800" dirty="0"/>
              <a:t> </a:t>
            </a:r>
            <a:r>
              <a:rPr lang="en-US" sz="800" dirty="0" err="1"/>
              <a:t>karsilastirilmasi</a:t>
            </a:r>
            <a:r>
              <a:rPr lang="en-US" sz="800" dirty="0"/>
              <a:t>[Tai, W., Lei, Y., Zhou, F., </a:t>
            </a:r>
            <a:r>
              <a:rPr lang="en-US" sz="800" dirty="0" err="1"/>
              <a:t>Trajcevski</a:t>
            </a:r>
            <a:r>
              <a:rPr lang="en-US" sz="800" dirty="0"/>
              <a:t>, G., &amp; Zhong, T. (2023). DOSE: Diffusion dropout with adaptive prior for speech enhancement. Advances in Neural Information Processing Systems, 36, 40272-40293.</a:t>
            </a:r>
          </a:p>
          <a:p>
            <a:r>
              <a:rPr lang="en-US" sz="800" dirty="0"/>
              <a:t>] 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53825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1575-4A2B-FE5A-D357-2AF3152D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39B530D-5DDD-6C4A-01F9-480DF92D56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AA81C7D0-99BD-5BC2-0284-112FF5778917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7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7BDE2802-849B-3EF6-E7D8-6EC83B6BFDAB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B871819C-073A-3F6D-4896-F2F1E1A4E801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556F9DF3-44F2-DACF-4E4C-A54001DB2F76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40F4DDA1-76C3-83FD-94F1-D676B4BB1DA2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794BEA7-6999-9DC0-6EA8-6D919DCFF253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F4C56936-9092-E529-8E00-EA8C6E1BD6E9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31155CAE-BAF5-85AC-33E5-DDAA082B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28051E5-4214-CF0F-C4E5-1F877273D6A4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Metin kutusu 1">
            <a:extLst>
              <a:ext uri="{FF2B5EF4-FFF2-40B4-BE49-F238E27FC236}">
                <a16:creationId xmlns:a16="http://schemas.microsoft.com/office/drawing/2014/main" id="{82D4D87D-C5E0-2582-96E6-F5391808A2FD}"/>
              </a:ext>
            </a:extLst>
          </p:cNvPr>
          <p:cNvSpPr txBox="1"/>
          <p:nvPr/>
        </p:nvSpPr>
        <p:spPr>
          <a:xfrm>
            <a:off x="2828544" y="1879252"/>
            <a:ext cx="60973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Veri Seti </a:t>
            </a:r>
            <a:r>
              <a:rPr lang="en-US" dirty="0" err="1"/>
              <a:t>Toplama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tr-TR" dirty="0"/>
              <a:t>Ö</a:t>
            </a:r>
            <a:r>
              <a:rPr lang="en-US" dirty="0"/>
              <a:t>n </a:t>
            </a:r>
            <a:r>
              <a:rPr lang="tr-TR" dirty="0"/>
              <a:t>İş</a:t>
            </a:r>
            <a:r>
              <a:rPr lang="en-US" dirty="0" err="1"/>
              <a:t>leme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Sentetik Veri Seti Oluşturma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Model Mimarisi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Eğitim Süreci ve Optimizasyonu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/>
              <a:t>Değerlendirme Metrikleri</a:t>
            </a:r>
          </a:p>
          <a:p>
            <a:pPr marL="342900" indent="-342900">
              <a:buFont typeface="+mj-lt"/>
              <a:buAutoNum type="arabicPeriod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027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A5D8-F1C3-F2EB-4AEF-C8803225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67AE4F9-7A75-E7A5-D358-13CA105EE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4E93AB26-6A4B-F3FD-272F-5D339D5B086C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8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EFFED88A-13B4-AA64-84A6-E25D99EE9D1D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B24421F7-A5FC-0AA6-67D4-26F7DD930FE7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B4950B43-CEFB-9110-B7E1-A294B63F1FBF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F3D956A0-C3C1-71AB-87B1-26E9A4E9EC53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FBDD33C-40F0-74B9-8B9F-84916C460844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7093B04E-B38A-0119-7879-52A0399EFCCD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DB820BAB-881E-78B4-16B5-FB9A7965C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7EC90D78-56AD-58C5-A6DE-E643F3D9FE6D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7DFDB268-3C53-12DE-12E9-C6FA788A8143}"/>
              </a:ext>
            </a:extLst>
          </p:cNvPr>
          <p:cNvSpPr txBox="1">
            <a:spLocks/>
          </p:cNvSpPr>
          <p:nvPr/>
        </p:nvSpPr>
        <p:spPr>
          <a:xfrm>
            <a:off x="578114" y="2543370"/>
            <a:ext cx="1386974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Veri Seti </a:t>
            </a:r>
            <a:r>
              <a:rPr lang="en-US" sz="2000" dirty="0" err="1"/>
              <a:t>Toplama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tr-TR" sz="2000" dirty="0"/>
              <a:t>Ö</a:t>
            </a:r>
            <a:r>
              <a:rPr lang="en-US" sz="2000" dirty="0"/>
              <a:t>n </a:t>
            </a:r>
            <a:r>
              <a:rPr lang="tr-TR" sz="2000" dirty="0"/>
              <a:t>İş</a:t>
            </a:r>
            <a:r>
              <a:rPr lang="en-US" sz="2000" dirty="0" err="1"/>
              <a:t>leme</a:t>
            </a:r>
            <a:r>
              <a:rPr lang="en-US" sz="2000" dirty="0"/>
              <a:t> </a:t>
            </a: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1E25F77-4EFC-F7F8-4FF9-AC4B2770D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121" y="1495696"/>
            <a:ext cx="2891928" cy="1914151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CBC1CB82-4EFF-DAED-31F0-8A8B2B1E3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082" y="1495696"/>
            <a:ext cx="2891928" cy="1984219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49D7AC10-CD41-FE9E-6EE3-6861A343306D}"/>
              </a:ext>
            </a:extLst>
          </p:cNvPr>
          <p:cNvSpPr txBox="1"/>
          <p:nvPr/>
        </p:nvSpPr>
        <p:spPr>
          <a:xfrm>
            <a:off x="2418121" y="1083059"/>
            <a:ext cx="2253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Konuşma Veri Seti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75D62D88-5748-AB41-DE76-DD219E6F0B26}"/>
              </a:ext>
            </a:extLst>
          </p:cNvPr>
          <p:cNvSpPr txBox="1"/>
          <p:nvPr/>
        </p:nvSpPr>
        <p:spPr>
          <a:xfrm>
            <a:off x="5712245" y="1083059"/>
            <a:ext cx="237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DEMAND Gürültü Veri Seti</a:t>
            </a:r>
          </a:p>
        </p:txBody>
      </p:sp>
    </p:spTree>
    <p:extLst>
      <p:ext uri="{BB962C8B-B14F-4D97-AF65-F5344CB8AC3E}">
        <p14:creationId xmlns:p14="http://schemas.microsoft.com/office/powerpoint/2010/main" val="176225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6D24-F22E-4E62-C8B6-C7CD0F6A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7768C6E-4DCE-257E-1733-A95F7CDB6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3B7E20C5-748D-2030-4F49-CB6EFAFD487D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9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B8709E85-06FC-4E8C-2A7B-48C0D387647F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0527EB84-CECB-7EA6-BFA0-DAFE979177D2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D17D4F95-3518-1A8E-DA36-7DD7984CF33E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F65DF6E0-E152-2596-CB62-333F37554B04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FEEA908-474C-D26E-7397-0CE1044A5329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3DB9584A-FF89-7438-B5DB-9F91B92694E0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8AEADD50-2D16-D153-3E92-8D58F8F73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089E287C-CDB0-D16F-ED6E-66ECE54053E3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18B29A20-0DB4-E1B4-EA1F-4CA7F7BEAEA7}"/>
              </a:ext>
            </a:extLst>
          </p:cNvPr>
          <p:cNvSpPr txBox="1">
            <a:spLocks/>
          </p:cNvSpPr>
          <p:nvPr/>
        </p:nvSpPr>
        <p:spPr>
          <a:xfrm>
            <a:off x="578114" y="2543370"/>
            <a:ext cx="1386974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tr-TR" sz="2000" dirty="0"/>
              <a:t>Sentetik Veri Oluşturma 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DFDA5538-DAC6-A276-BF97-0F2CF1EF57A4}"/>
              </a:ext>
            </a:extLst>
          </p:cNvPr>
          <p:cNvSpPr txBox="1"/>
          <p:nvPr/>
        </p:nvSpPr>
        <p:spPr>
          <a:xfrm>
            <a:off x="2967228" y="811209"/>
            <a:ext cx="47030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LKFS (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Loudness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K-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weighted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relative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to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full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tr-TR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scale</a:t>
            </a:r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 Metodu </a:t>
            </a:r>
            <a:r>
              <a:rPr lang="tr-TR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Bu yöntemde, temiz konuşma verisi ile gürültü verisi, LKFS standardına göre algısal olarak dengelenerek birleştirilmiştir. Bu sayede, insan kulağının gürültü algısına daha yakın bir sentetik veri seti elde edilmiştir</a:t>
            </a:r>
            <a:endParaRPr lang="tr-TR" dirty="0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75B8391E-4E07-B746-7E96-94920A57F6A9}"/>
              </a:ext>
            </a:extLst>
          </p:cNvPr>
          <p:cNvSpPr txBox="1"/>
          <p:nvPr/>
        </p:nvSpPr>
        <p:spPr>
          <a:xfrm>
            <a:off x="2967228" y="2751637"/>
            <a:ext cx="47030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P.56 (ITU-T P.56) Metodu</a:t>
            </a:r>
            <a:r>
              <a:rPr lang="tr-TR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: Bu yöntem ise, uluslararası bir telekomünikasyon standardı olan P.56’ya göre ses seviyelerinin ölçülerek birleştirilmesini temel almıştır. Bu yaklaşım, gürültü engelleme işleminin daha standartlaştırılmış bir ölçümlemesini sağlamıştır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1780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6BDE-7229-E232-1C3B-98179369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432EE0E-5309-B9DD-630D-C769C56EA8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2BC70D84-9CF3-ED7C-5D24-8109E893A448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10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2A73AAF4-DDC1-D7F9-2A05-858BBEB7C0F3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D1AE19F9-DBE1-826A-9453-F3BA5ED8A91E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A392F575-402C-3A40-D8E4-DA4656E409E7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D38869D6-F12A-3AC7-A0C8-6181B57BEA11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632B7DD-0EA7-97F1-0A0E-F041C0576337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24F79D85-DAC3-2EE5-F0E1-CF02961533E6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5C480347-6236-B395-891F-A27BC4FB4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A2BA3EAC-8A21-F29F-CC63-79E552A71896}"/>
                </a:ext>
              </a:extLst>
            </p:cNvPr>
            <p:cNvSpPr txBox="1"/>
            <p:nvPr/>
          </p:nvSpPr>
          <p:spPr>
            <a:xfrm>
              <a:off x="28834" y="4892516"/>
              <a:ext cx="15073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098F8C2A-6E5C-114E-6114-A1C01D0ED5F8}"/>
              </a:ext>
            </a:extLst>
          </p:cNvPr>
          <p:cNvSpPr txBox="1">
            <a:spLocks/>
          </p:cNvSpPr>
          <p:nvPr/>
        </p:nvSpPr>
        <p:spPr>
          <a:xfrm>
            <a:off x="578114" y="2543370"/>
            <a:ext cx="1386974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tr-TR" sz="2000" dirty="0"/>
              <a:t>Sentetik Veri Oluşturma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A7875CD-3C28-01BC-438C-2F75964D61B7}"/>
              </a:ext>
            </a:extLst>
          </p:cNvPr>
          <p:cNvSpPr txBox="1"/>
          <p:nvPr/>
        </p:nvSpPr>
        <p:spPr>
          <a:xfrm>
            <a:off x="2032000" y="464051"/>
            <a:ext cx="3211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LKFS ile Sentetik Veri Oluşturma </a:t>
            </a:r>
            <a:r>
              <a:rPr lang="en-US" dirty="0"/>
              <a:t>:</a:t>
            </a:r>
            <a:endParaRPr lang="tr-TR" dirty="0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A8225990-F4D8-B8D8-D0E1-06E9FACB55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239" r="-4239"/>
          <a:stretch/>
        </p:blipFill>
        <p:spPr>
          <a:xfrm>
            <a:off x="2477111" y="1309560"/>
            <a:ext cx="2944543" cy="2465199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FFF7E912-B8C5-408E-EED8-5F6A8528B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899" y="1277882"/>
            <a:ext cx="2715929" cy="246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F45F-40A2-2B23-1AE6-F17191DF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957C897-272C-081D-E7C8-5236374BBE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0D9C36FF-D0FA-0388-5E27-F082C3573401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11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4AA51F5B-E8DC-1D1A-2057-2B46CB2B676D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0D62EA10-EA99-50A0-120B-4C66F2F8089B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5B16D4FC-507B-50B5-E67D-7B6F1C628E2E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06801DA6-7EE0-B0A1-1BB7-DF1609FBE17F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46FA6BA-670E-A40E-DDCE-1953E0D37C2F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855B0311-5FA2-8A95-30F6-9DB1D61C1F33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AFAA9674-D300-A0A4-BDB9-4494CF931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7AD0999C-F504-0F60-2378-2186DAA50662}"/>
                </a:ext>
              </a:extLst>
            </p:cNvPr>
            <p:cNvSpPr txBox="1"/>
            <p:nvPr/>
          </p:nvSpPr>
          <p:spPr>
            <a:xfrm>
              <a:off x="28834" y="4892516"/>
              <a:ext cx="153174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C79A6A19-E9DF-4777-4BA5-8860B4B7BB5B}"/>
              </a:ext>
            </a:extLst>
          </p:cNvPr>
          <p:cNvSpPr txBox="1">
            <a:spLocks/>
          </p:cNvSpPr>
          <p:nvPr/>
        </p:nvSpPr>
        <p:spPr>
          <a:xfrm>
            <a:off x="578114" y="2543370"/>
            <a:ext cx="1386974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tr-TR" sz="2000" dirty="0"/>
              <a:t>Sentetik Veri Oluşturma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8F9F1A0-20CA-9C16-A2AD-28C610FE2A5D}"/>
              </a:ext>
            </a:extLst>
          </p:cNvPr>
          <p:cNvSpPr txBox="1"/>
          <p:nvPr/>
        </p:nvSpPr>
        <p:spPr>
          <a:xfrm>
            <a:off x="2032000" y="464051"/>
            <a:ext cx="3211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P56</a:t>
            </a:r>
            <a:r>
              <a:rPr lang="tr-TR" dirty="0"/>
              <a:t> ile Sentetik Veri Oluşturma </a:t>
            </a:r>
            <a:r>
              <a:rPr lang="en-US" dirty="0"/>
              <a:t>:</a:t>
            </a:r>
            <a:endParaRPr lang="tr-TR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66F5BD9F-EE9B-DB51-27AB-BFCBD42B8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714" y="1475454"/>
            <a:ext cx="2786566" cy="253830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59E196ED-3AF3-798C-AD1B-5DA60D0E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994" y="1475454"/>
            <a:ext cx="2786566" cy="250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2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C6B6-5E61-A0E1-F4A6-A29719B1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C51D6C9-72C0-08C8-148D-6545D53997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AEDF4BAE-968F-BE67-EA24-7A1D6A84A04F}"/>
              </a:ext>
            </a:extLst>
          </p:cNvPr>
          <p:cNvSpPr txBox="1">
            <a:spLocks/>
          </p:cNvSpPr>
          <p:nvPr/>
        </p:nvSpPr>
        <p:spPr>
          <a:xfrm>
            <a:off x="8461986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12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345A6EDA-1270-ACF6-9FF2-1C2F469596BA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1A79203B-E5DD-2E20-6AA9-A6C491D500A0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20BAD716-6DAC-FB33-D5FC-166C4AE39740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68BEAB98-00EA-AF44-D514-98A2AEA59338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91F7434-8E87-C1B8-1975-EFE17F606387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DB27C2F5-ED4A-AE7F-CB2D-E4B0C2CE1634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408F5B5A-92B0-0D2F-F73F-5DEB7C5A8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371B6BAF-47FF-607C-A322-DE8410B72EF5}"/>
                </a:ext>
              </a:extLst>
            </p:cNvPr>
            <p:cNvSpPr txBox="1"/>
            <p:nvPr/>
          </p:nvSpPr>
          <p:spPr>
            <a:xfrm>
              <a:off x="28834" y="4892516"/>
              <a:ext cx="153174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98EBB53E-81FB-53CC-D32D-F7EC4EC10092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tr-TR" sz="2000" dirty="0"/>
              <a:t>Model Mimarisi</a:t>
            </a:r>
          </a:p>
        </p:txBody>
      </p:sp>
      <p:pic>
        <p:nvPicPr>
          <p:cNvPr id="5" name="Resim 4" descr="metin, ekran görüntüsü, diyagram, pla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E09DA56-6A5B-1C86-B4D5-A2E084C1A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912" y="264946"/>
            <a:ext cx="6756233" cy="391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4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774C2-294C-7768-8013-634FD19F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FF4C7AE-86B2-D756-3292-D7FDAA79C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4F9A0114-D1EA-0B2B-CF31-4EDBA183A25B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13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33749356-A026-5E81-6AE6-73CEC5220629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BB285744-B846-4342-5FE7-D39C7AD032EB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69C2C2F7-3488-B7DF-CFB0-18930E91D852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3B5EE09A-8D8D-839E-6477-6B4E1FCBC021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247CBD1-D0B8-025A-BF9D-5DEE30B03FBB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8D8A71E2-3701-87BA-A426-FE0DD59DBB0D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49FC96BA-317D-113A-268C-CC725CE77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6459412F-DD4A-7305-FC98-8A21C0A2445D}"/>
                </a:ext>
              </a:extLst>
            </p:cNvPr>
            <p:cNvSpPr txBox="1"/>
            <p:nvPr/>
          </p:nvSpPr>
          <p:spPr>
            <a:xfrm>
              <a:off x="28834" y="4892516"/>
              <a:ext cx="153174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03BFE0A8-ED1B-11FB-F57C-4F08C051D81C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E</a:t>
            </a:r>
            <a:r>
              <a:rPr lang="tr-TR" sz="2000" dirty="0" err="1"/>
              <a:t>ğitim</a:t>
            </a:r>
            <a:r>
              <a:rPr lang="tr-TR" sz="2000" dirty="0"/>
              <a:t> Süreci ve Optimizasyon</a:t>
            </a:r>
          </a:p>
        </p:txBody>
      </p:sp>
      <p:pic>
        <p:nvPicPr>
          <p:cNvPr id="17" name="Resim 16" descr="çizgi, diyagram, öykü gelişim çizgisi; kumpas; grafiğini çıkarma, 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FE8AA5E-45F1-F7F9-11EA-EB8654D3E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545" y="732971"/>
            <a:ext cx="5851737" cy="3502175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8C767605-4D07-DF2B-FFBB-4A92640A6943}"/>
              </a:ext>
            </a:extLst>
          </p:cNvPr>
          <p:cNvSpPr txBox="1"/>
          <p:nvPr/>
        </p:nvSpPr>
        <p:spPr>
          <a:xfrm>
            <a:off x="2785872" y="4235146"/>
            <a:ext cx="4163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/>
              <a:t>Grafik 1</a:t>
            </a:r>
            <a:r>
              <a:rPr lang="en-US" sz="800" dirty="0"/>
              <a:t>: LKFS e</a:t>
            </a:r>
            <a:r>
              <a:rPr lang="tr-TR" sz="800" dirty="0"/>
              <a:t>ğ</a:t>
            </a:r>
            <a:r>
              <a:rPr lang="en-US" sz="800" dirty="0" err="1"/>
              <a:t>itim</a:t>
            </a:r>
            <a:r>
              <a:rPr lang="en-US" sz="800" dirty="0"/>
              <a:t> s</a:t>
            </a:r>
            <a:r>
              <a:rPr lang="tr-TR" sz="800" dirty="0"/>
              <a:t>ü</a:t>
            </a:r>
            <a:r>
              <a:rPr lang="en-US" sz="800" dirty="0" err="1"/>
              <a:t>reci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2279032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5DB7-3482-0866-B220-F63AC5DB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71F3534-B676-EA65-22F3-9C658F2BA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DE3004DA-D063-B260-C5CA-4CAC1181CFE9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14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BDF51BD5-28DA-3D12-79DB-E81CA9B89DBC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4D83B039-D82A-D538-6B0A-DFFAA1C6C470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A59430F4-04AD-3195-4668-9153C35AC0AF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D6681A99-EDB7-29D1-96AC-A0BAA0BFA060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0BA09EF-17AC-A6B4-940A-0510F0569054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470EC601-6142-3A3F-832E-21EC0F4BBD2F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8D7E3590-268A-8208-85B9-0A6D96482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F6B99D18-3C36-2F8A-3FC0-3453B900D573}"/>
                </a:ext>
              </a:extLst>
            </p:cNvPr>
            <p:cNvSpPr txBox="1"/>
            <p:nvPr/>
          </p:nvSpPr>
          <p:spPr>
            <a:xfrm>
              <a:off x="28834" y="4892516"/>
              <a:ext cx="151345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2F42636A-FD1C-9CC4-3CA6-3306ACF77B36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E</a:t>
            </a:r>
            <a:r>
              <a:rPr lang="tr-TR" sz="2000" dirty="0" err="1"/>
              <a:t>ğitim</a:t>
            </a:r>
            <a:r>
              <a:rPr lang="tr-TR" sz="2000" dirty="0"/>
              <a:t> Süreci ve Optimizasyon</a:t>
            </a:r>
          </a:p>
        </p:txBody>
      </p:sp>
      <p:pic>
        <p:nvPicPr>
          <p:cNvPr id="5" name="Resim 4" descr="diyagram, çizgi, öykü gelişim çizgisi; kumpas; grafiğini çıkarma, meti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FFB6CC5-FD58-9D4E-EA82-6E9C5C3B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551" y="733482"/>
            <a:ext cx="6143927" cy="3677047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2A2639F0-0E67-447F-69B4-DFE06EC9F195}"/>
              </a:ext>
            </a:extLst>
          </p:cNvPr>
          <p:cNvSpPr txBox="1"/>
          <p:nvPr/>
        </p:nvSpPr>
        <p:spPr>
          <a:xfrm>
            <a:off x="2535581" y="4411607"/>
            <a:ext cx="47030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00" dirty="0"/>
              <a:t>Grafik 2</a:t>
            </a:r>
            <a:r>
              <a:rPr lang="en-US" sz="800" dirty="0"/>
              <a:t>: </a:t>
            </a:r>
            <a:r>
              <a:rPr lang="tr-TR" sz="800" dirty="0"/>
              <a:t>P56</a:t>
            </a:r>
            <a:r>
              <a:rPr lang="en-US" sz="800" dirty="0"/>
              <a:t> e</a:t>
            </a:r>
            <a:r>
              <a:rPr lang="tr-TR" sz="800" dirty="0"/>
              <a:t>ğ</a:t>
            </a:r>
            <a:r>
              <a:rPr lang="en-US" sz="800" dirty="0" err="1"/>
              <a:t>itim</a:t>
            </a:r>
            <a:r>
              <a:rPr lang="en-US" sz="800" dirty="0"/>
              <a:t> s</a:t>
            </a:r>
            <a:r>
              <a:rPr lang="tr-TR" sz="800" dirty="0"/>
              <a:t>ü</a:t>
            </a:r>
            <a:r>
              <a:rPr lang="en-US" sz="800" dirty="0" err="1"/>
              <a:t>reci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120616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566A-4ABA-9CFA-2D95-46C1F53A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D125427-6EFC-E3E4-0989-2B73F71AB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3F445FFE-C0FB-AB91-D0EF-33DB8422BF80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15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EA4F8B6A-7E9C-7DFA-A5BF-A87B6F8B9FC4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E856AA97-8B94-1BD3-5B07-5108444BB746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0BDD65DB-86FA-C719-0900-BBD218B8E30F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4D9CF079-D382-D79E-8C41-73AC448CBC38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E804622-9A88-2B58-AF92-389A20E2F81F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B0477BAC-4708-AB54-A637-2E89907660B7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1C7C3B6B-B3EF-5354-1BBD-E3F3EA333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021B58FC-B64F-43D8-8E98-94AAF2BFD14E}"/>
                </a:ext>
              </a:extLst>
            </p:cNvPr>
            <p:cNvSpPr txBox="1"/>
            <p:nvPr/>
          </p:nvSpPr>
          <p:spPr>
            <a:xfrm>
              <a:off x="28834" y="4892516"/>
              <a:ext cx="15256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32485024-0210-2CE9-F870-FE723B358D07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E</a:t>
            </a:r>
            <a:r>
              <a:rPr lang="tr-TR" sz="2000" dirty="0" err="1"/>
              <a:t>ğitim</a:t>
            </a:r>
            <a:r>
              <a:rPr lang="tr-TR" sz="2000" dirty="0"/>
              <a:t> Süreci ve Optimizasyon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431D5B5-4432-CFB0-44F0-8F129E8E2EA4}"/>
              </a:ext>
            </a:extLst>
          </p:cNvPr>
          <p:cNvSpPr txBox="1"/>
          <p:nvPr/>
        </p:nvSpPr>
        <p:spPr>
          <a:xfrm>
            <a:off x="2554224" y="1280160"/>
            <a:ext cx="5955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Algoritmasi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Kayip</a:t>
            </a:r>
            <a:r>
              <a:rPr lang="en-US" dirty="0"/>
              <a:t> </a:t>
            </a:r>
            <a:r>
              <a:rPr lang="en-US" dirty="0" err="1"/>
              <a:t>Fonksiyonu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Donanim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Optimizasyonlar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 (Exponential Moving Average)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1154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7F80-97E0-C576-F49B-D45F2473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B3107E-7C1F-8E64-2AA4-DCB39AD3F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FF888B52-0EF2-08D4-7558-13ADE534535E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16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ECEC2D05-43AC-13E7-DA70-379C7F364223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0F09E0A9-03AF-2113-81D7-DA567A7B8DD8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73605CB9-C686-2D8B-3EA5-4B6FAED58B3A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1BC237E0-EDD1-0920-1543-11ABCE57BCB6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263BCED-8D75-0C4B-EA0D-FE2EFE0E84E2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22B9B886-D89A-AEF3-2B7D-DBF2CE957649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6FC2FAA3-B83D-325C-2C4A-587F71D12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3E601026-97E9-D875-5F4B-673702F105A8}"/>
                </a:ext>
              </a:extLst>
            </p:cNvPr>
            <p:cNvSpPr txBox="1"/>
            <p:nvPr/>
          </p:nvSpPr>
          <p:spPr>
            <a:xfrm>
              <a:off x="28834" y="4892516"/>
              <a:ext cx="154393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5A86B2EB-2D48-16E8-9032-07A3D374849B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De</a:t>
            </a:r>
            <a:r>
              <a:rPr lang="tr-TR" sz="2000" dirty="0"/>
              <a:t>ğ</a:t>
            </a:r>
            <a:r>
              <a:rPr lang="en-US" sz="2000" dirty="0" err="1"/>
              <a:t>erlendirme</a:t>
            </a:r>
            <a:r>
              <a:rPr lang="en-US" sz="2000" dirty="0"/>
              <a:t> </a:t>
            </a:r>
            <a:r>
              <a:rPr lang="en-US" sz="2000" dirty="0" err="1"/>
              <a:t>Metrikleri</a:t>
            </a:r>
            <a:endParaRPr lang="tr-TR" sz="20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532FFE5-AC4D-D266-2442-D93BD50AE318}"/>
              </a:ext>
            </a:extLst>
          </p:cNvPr>
          <p:cNvSpPr txBox="1"/>
          <p:nvPr/>
        </p:nvSpPr>
        <p:spPr>
          <a:xfrm>
            <a:off x="2915274" y="1200790"/>
            <a:ext cx="6089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PESQ (</a:t>
            </a:r>
            <a:r>
              <a:rPr lang="tr-TR" b="1" dirty="0" err="1"/>
              <a:t>Perceptual</a:t>
            </a:r>
            <a:r>
              <a:rPr lang="tr-TR" b="1" dirty="0"/>
              <a:t> Evaluation of Speech </a:t>
            </a:r>
            <a:r>
              <a:rPr lang="tr-TR" b="1" dirty="0" err="1"/>
              <a:t>Quality</a:t>
            </a:r>
            <a:r>
              <a:rPr lang="tr-TR" b="1" dirty="0"/>
              <a:t>)[</a:t>
            </a:r>
            <a:r>
              <a:rPr lang="tr-TR" dirty="0"/>
              <a:t>14] : Konuşma kalitesinin insan algısına en yakın şekilde değerlendirilmesini sağlayan bir metriktir. PESQ, 1 (en kotu) ile 4.5 (en iyi) arasında bir skorla temizlenmiş konuşmanın algılanan kalitesini ölçer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STOI (</a:t>
            </a:r>
            <a:r>
              <a:rPr lang="tr-TR" b="1" dirty="0" err="1"/>
              <a:t>Short</a:t>
            </a:r>
            <a:r>
              <a:rPr lang="tr-TR" b="1" dirty="0"/>
              <a:t> Time </a:t>
            </a:r>
            <a:r>
              <a:rPr lang="tr-TR" b="1" dirty="0" err="1"/>
              <a:t>Objective</a:t>
            </a:r>
            <a:r>
              <a:rPr lang="tr-TR" b="1" dirty="0"/>
              <a:t> </a:t>
            </a:r>
            <a:r>
              <a:rPr lang="tr-TR" b="1" dirty="0" err="1"/>
              <a:t>Intelligibility</a:t>
            </a:r>
            <a:r>
              <a:rPr lang="tr-TR" b="1" dirty="0"/>
              <a:t>)[</a:t>
            </a:r>
            <a:r>
              <a:rPr lang="tr-TR" dirty="0"/>
              <a:t>15] : Bu metrik, temizlenmiş konuşmanın anlaşılırlığını, yani gürültü içinden konuşmanın ne kadar net bir şekilde anlaşılabilirliğini ölçer. STOI skoru, 0 ile 1 arasında değişir; 1’e yakın değerler yüksek anlaşılırlığı gösterir.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SSNR (Segmental </a:t>
            </a:r>
            <a:r>
              <a:rPr lang="tr-TR" b="1" dirty="0" err="1"/>
              <a:t>Signal-to-Noise</a:t>
            </a:r>
            <a:r>
              <a:rPr lang="tr-TR" b="1" dirty="0"/>
              <a:t> </a:t>
            </a:r>
            <a:r>
              <a:rPr lang="tr-TR" b="1" dirty="0" err="1"/>
              <a:t>Ratio</a:t>
            </a:r>
            <a:r>
              <a:rPr lang="tr-TR" b="1" dirty="0"/>
              <a:t>) </a:t>
            </a:r>
            <a:r>
              <a:rPr lang="tr-TR" dirty="0"/>
              <a:t>: Ses sinyalinin gürültüye göre kalitesini parçasal olarak ölçer. SSNR değeri ne kadar yüksek olursa, modelin gürültüyü o kadar başarılı bir şekilde bastırdığı ve sinyali koruduğu anlaşılır</a:t>
            </a:r>
          </a:p>
        </p:txBody>
      </p:sp>
    </p:spTree>
    <p:extLst>
      <p:ext uri="{BB962C8B-B14F-4D97-AF65-F5344CB8AC3E}">
        <p14:creationId xmlns:p14="http://schemas.microsoft.com/office/powerpoint/2010/main" val="1004156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8064-FFFE-6C41-B228-B9BB95D0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BB8832F-DBDD-066B-0B6B-A355204EE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D0775991-F83D-B60F-F9BE-AA107F29BFD4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17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8B21085A-8FEF-A17B-4C8B-4249C0255E5B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600" b="1" dirty="0"/>
              <a:t>Metodoloji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358D91A1-F147-ADBE-7CC0-5CC1B11DD159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F7E91704-B6C8-8D18-3D40-3AC219198FDE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E0196F1-644B-E258-61EB-EB8359725A8C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88A2CB4-286F-4C24-9AAE-B33F63E5A469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A74B479F-FF38-2152-95D3-5AEBBFB70E95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7792890A-6693-AB70-F18F-5B8C5C41A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3A092B2C-7331-6978-3B1A-0F222AA8BE10}"/>
                </a:ext>
              </a:extLst>
            </p:cNvPr>
            <p:cNvSpPr txBox="1"/>
            <p:nvPr/>
          </p:nvSpPr>
          <p:spPr>
            <a:xfrm>
              <a:off x="28834" y="4892516"/>
              <a:ext cx="150126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F98A3C83-3135-9A44-23C0-F551DDD3F74F}"/>
              </a:ext>
            </a:extLst>
          </p:cNvPr>
          <p:cNvSpPr txBox="1">
            <a:spLocks/>
          </p:cNvSpPr>
          <p:nvPr/>
        </p:nvSpPr>
        <p:spPr>
          <a:xfrm>
            <a:off x="133003" y="2543370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De</a:t>
            </a:r>
            <a:r>
              <a:rPr lang="tr-TR" sz="2000" dirty="0"/>
              <a:t>ğ</a:t>
            </a:r>
            <a:r>
              <a:rPr lang="en-US" sz="2000" dirty="0" err="1"/>
              <a:t>erlendirme</a:t>
            </a:r>
            <a:r>
              <a:rPr lang="en-US" sz="2000" dirty="0"/>
              <a:t> </a:t>
            </a:r>
            <a:r>
              <a:rPr lang="en-US" sz="2000" dirty="0" err="1"/>
              <a:t>Metrikleri</a:t>
            </a:r>
            <a:endParaRPr lang="tr-TR" sz="20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1D1A7B5-F35B-B88D-29F1-FA924E4C6FC2}"/>
              </a:ext>
            </a:extLst>
          </p:cNvPr>
          <p:cNvSpPr txBox="1"/>
          <p:nvPr/>
        </p:nvSpPr>
        <p:spPr>
          <a:xfrm>
            <a:off x="2840736" y="1340643"/>
            <a:ext cx="60899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CSIG (</a:t>
            </a:r>
            <a:r>
              <a:rPr lang="tr-TR" b="1" dirty="0" err="1"/>
              <a:t>Signal</a:t>
            </a:r>
            <a:r>
              <a:rPr lang="tr-TR" b="1" dirty="0"/>
              <a:t> </a:t>
            </a:r>
            <a:r>
              <a:rPr lang="tr-TR" b="1" dirty="0" err="1"/>
              <a:t>Distortion</a:t>
            </a:r>
            <a:r>
              <a:rPr lang="tr-TR" b="1" dirty="0"/>
              <a:t>) </a:t>
            </a:r>
            <a:r>
              <a:rPr lang="tr-TR" dirty="0"/>
              <a:t>: Temizlenmiş sinyalin orijinal temiz sinyale ne kadar benzediğini değerlendirir. Bu metrik, 1 (en kotu) ile 5 (en iyi) arasında bir skalada skorlanır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CBAK (</a:t>
            </a:r>
            <a:r>
              <a:rPr lang="tr-TR" b="1" dirty="0" err="1"/>
              <a:t>Composite</a:t>
            </a:r>
            <a:r>
              <a:rPr lang="tr-TR" b="1" dirty="0"/>
              <a:t> Background </a:t>
            </a:r>
            <a:r>
              <a:rPr lang="tr-TR" b="1" dirty="0" err="1"/>
              <a:t>Noise</a:t>
            </a:r>
            <a:r>
              <a:rPr lang="tr-TR" b="1" dirty="0"/>
              <a:t> </a:t>
            </a:r>
            <a:r>
              <a:rPr lang="tr-TR" b="1" dirty="0" err="1"/>
              <a:t>Quality</a:t>
            </a:r>
            <a:r>
              <a:rPr lang="tr-TR" b="1" dirty="0"/>
              <a:t>): </a:t>
            </a:r>
            <a:r>
              <a:rPr lang="tr-TR" dirty="0"/>
              <a:t>Kalan arka plan gürültüsünün algısal kalitesini değerlendirir. CBAK skoru, 1 ile 5 arasında bir skalada olup, temizlenmiş seste kalan gürültünün ne kadar rahatsız edici veya yapay olduğunu gösterir.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COVL (</a:t>
            </a:r>
            <a:r>
              <a:rPr lang="tr-TR" b="1" dirty="0" err="1"/>
              <a:t>Composite</a:t>
            </a:r>
            <a:r>
              <a:rPr lang="tr-TR" b="1" dirty="0"/>
              <a:t> </a:t>
            </a:r>
            <a:r>
              <a:rPr lang="tr-TR" b="1" dirty="0" err="1"/>
              <a:t>Overall</a:t>
            </a:r>
            <a:r>
              <a:rPr lang="tr-TR" b="1" dirty="0"/>
              <a:t> </a:t>
            </a:r>
            <a:r>
              <a:rPr lang="tr-TR" b="1" dirty="0" err="1"/>
              <a:t>Quality</a:t>
            </a:r>
            <a:r>
              <a:rPr lang="tr-TR" b="1" dirty="0"/>
              <a:t>) </a:t>
            </a:r>
            <a:r>
              <a:rPr lang="tr-TR" dirty="0"/>
              <a:t>: Hem sinyal kalitesinin (CSIG) hem de arka plan gürültüsünün kalitesini (CBAK) hesaba katan genel kalite skorudur. COVL skoru, 1 ile 5 arasında olup, modelin gürültü engelleme performansını toplu olarak yansıtır</a:t>
            </a:r>
          </a:p>
        </p:txBody>
      </p:sp>
    </p:spTree>
    <p:extLst>
      <p:ext uri="{BB962C8B-B14F-4D97-AF65-F5344CB8AC3E}">
        <p14:creationId xmlns:p14="http://schemas.microsoft.com/office/powerpoint/2010/main" val="451599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9660-DD6A-5969-65F9-84B00CD3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D52D53E-EDAA-A028-9D4A-890CBE9D6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B858881B-AC6A-9105-2432-756F60B1CA64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18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5C3F79CA-974B-1080-3BEE-A418EC051E1A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Deneyler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B42A3CFB-40D6-8CC8-1715-0F939F575415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FF8E0062-33F1-10F4-EE06-411CDF333246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FFFC99AF-78D7-4451-044E-5927B0E36358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506CA00-F617-EC1F-F06C-493E7EAC826F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C7CB08CD-52EC-401F-46ED-7E424061DD09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545B27DE-ECF8-7FE2-2353-FCFB82617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5D21279C-5220-3E9C-A4CD-66F5A66938D5}"/>
                </a:ext>
              </a:extLst>
            </p:cNvPr>
            <p:cNvSpPr txBox="1"/>
            <p:nvPr/>
          </p:nvSpPr>
          <p:spPr>
            <a:xfrm>
              <a:off x="28834" y="4892516"/>
              <a:ext cx="15195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AF7983-55BC-218D-FD3A-D565C805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866" y="129651"/>
            <a:ext cx="4457806" cy="2340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C2FA25AF-6601-C094-1C3D-867C750A6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606" y="2469999"/>
            <a:ext cx="4128325" cy="216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0E68CA7A-D6FC-6549-EBBD-691DEAF495B4}"/>
              </a:ext>
            </a:extLst>
          </p:cNvPr>
          <p:cNvSpPr txBox="1">
            <a:spLocks/>
          </p:cNvSpPr>
          <p:nvPr/>
        </p:nvSpPr>
        <p:spPr>
          <a:xfrm>
            <a:off x="166458" y="2469694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Train</a:t>
            </a: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B64273C-ED49-F704-6D9E-98EA6BF78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044" y="1375037"/>
            <a:ext cx="2113329" cy="21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64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14CA-BBF8-5C86-E780-0D82262E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4B00251-5F0F-4FAA-C7C5-24682CBC7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38BA0907-12FB-BAA5-DA7C-EDE837CC6520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19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7189E6A8-05B9-33D1-4FBA-E7345539E469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Deneyler</a:t>
            </a:r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21E0A2A8-9DF4-2C63-0E48-2D900AED59FB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lvl="0" indent="0" algn="just">
              <a:buNone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537120C6-FECD-D9A2-43CA-30FBA624FFB7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64188F6D-91B0-514B-2301-FB9EC3E7B858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B920EB2-C313-D47B-EAFD-FD47C10CF9BA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2D8CCC90-3CB6-3BEA-89A3-70801F738FFA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183E228C-A8A9-D778-D140-65EB1CAA1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90B3F862-A396-ACEF-DD10-38AD35FB5668}"/>
                </a:ext>
              </a:extLst>
            </p:cNvPr>
            <p:cNvSpPr txBox="1"/>
            <p:nvPr/>
          </p:nvSpPr>
          <p:spPr>
            <a:xfrm>
              <a:off x="28834" y="4892516"/>
              <a:ext cx="15378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pic>
        <p:nvPicPr>
          <p:cNvPr id="3074" name="Resim 1">
            <a:extLst>
              <a:ext uri="{FF2B5EF4-FFF2-40B4-BE49-F238E27FC236}">
                <a16:creationId xmlns:a16="http://schemas.microsoft.com/office/drawing/2014/main" id="{B15F1AA9-479F-5326-3220-A853AA633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057" y="1422161"/>
            <a:ext cx="6269771" cy="2177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17402CD1-3085-F56E-3D39-05DD7D3B216B}"/>
              </a:ext>
            </a:extLst>
          </p:cNvPr>
          <p:cNvSpPr txBox="1">
            <a:spLocks/>
          </p:cNvSpPr>
          <p:nvPr/>
        </p:nvSpPr>
        <p:spPr>
          <a:xfrm>
            <a:off x="166458" y="2469694"/>
            <a:ext cx="1832085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ncode Sans Semi Condensed"/>
              <a:buNone/>
              <a:defRPr sz="2600" b="1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sz="2000" dirty="0"/>
              <a:t>Test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9916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8FFE-E9E6-7390-9423-3172C007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7E01542-BCAB-C0CD-3BF6-9F2991B7C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2C78F008-929F-39ED-6F26-92BE8427ED49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20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306458D6-C92D-F801-197F-37CAEFE417E8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189899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Sonuçlar</a:t>
            </a:r>
            <a:endParaRPr lang="tr-TR" sz="2600" b="1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DCB3A3B2-924A-FBCA-2FB3-8FC657DB3F05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70C4B704-B742-83D7-4DA2-76A2C169F20B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C87C852-3DF7-CB81-1955-D8825BB0E79E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F46F7A6E-B32B-A8EF-D250-33F6A57BECD2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28FD655A-E187-5A01-EAE2-A9453140B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B7DD3693-7D27-37AF-7AA4-597EF23169EE}"/>
                </a:ext>
              </a:extLst>
            </p:cNvPr>
            <p:cNvSpPr txBox="1"/>
            <p:nvPr/>
          </p:nvSpPr>
          <p:spPr>
            <a:xfrm>
              <a:off x="28834" y="4892516"/>
              <a:ext cx="15744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pic>
        <p:nvPicPr>
          <p:cNvPr id="2" name="Resim 1">
            <a:extLst>
              <a:ext uri="{FF2B5EF4-FFF2-40B4-BE49-F238E27FC236}">
                <a16:creationId xmlns:a16="http://schemas.microsoft.com/office/drawing/2014/main" id="{1DC7868B-2893-8FE6-DB96-03FDCC5A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900" y="129651"/>
            <a:ext cx="4698147" cy="201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Resim 1">
            <a:extLst>
              <a:ext uri="{FF2B5EF4-FFF2-40B4-BE49-F238E27FC236}">
                <a16:creationId xmlns:a16="http://schemas.microsoft.com/office/drawing/2014/main" id="{981ED912-7405-9D65-573E-A0F2D6DCE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764" y="2674500"/>
            <a:ext cx="4698147" cy="163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C095FB45-D635-8137-E765-4DA29050943D}"/>
              </a:ext>
            </a:extLst>
          </p:cNvPr>
          <p:cNvSpPr txBox="1"/>
          <p:nvPr/>
        </p:nvSpPr>
        <p:spPr>
          <a:xfrm>
            <a:off x="2995764" y="2069573"/>
            <a:ext cx="5666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00" dirty="0"/>
              <a:t>Tablo 3  : </a:t>
            </a:r>
            <a:r>
              <a:rPr lang="tr-TR" sz="800" dirty="0" err="1"/>
              <a:t>Farkli</a:t>
            </a:r>
            <a:r>
              <a:rPr lang="tr-TR" sz="800" dirty="0"/>
              <a:t> </a:t>
            </a:r>
            <a:r>
              <a:rPr lang="tr-TR" sz="800" dirty="0" err="1"/>
              <a:t>difuzyon</a:t>
            </a:r>
            <a:r>
              <a:rPr lang="tr-TR" sz="800" dirty="0"/>
              <a:t> </a:t>
            </a:r>
            <a:r>
              <a:rPr lang="tr-TR" sz="800" dirty="0" err="1"/>
              <a:t>iyilestirmelerinin</a:t>
            </a:r>
            <a:r>
              <a:rPr lang="tr-TR" sz="800" dirty="0"/>
              <a:t> </a:t>
            </a:r>
            <a:r>
              <a:rPr lang="tr-TR" sz="800" dirty="0" err="1"/>
              <a:t>karsilastirilmasi</a:t>
            </a:r>
            <a:r>
              <a:rPr lang="tr-TR" sz="800" dirty="0"/>
              <a:t>[</a:t>
            </a:r>
            <a:r>
              <a:rPr lang="tr-TR" sz="800" dirty="0" err="1"/>
              <a:t>Tai</a:t>
            </a:r>
            <a:r>
              <a:rPr lang="tr-TR" sz="800" dirty="0"/>
              <a:t>, W., </a:t>
            </a:r>
            <a:r>
              <a:rPr lang="tr-TR" sz="800" dirty="0" err="1"/>
              <a:t>Lei</a:t>
            </a:r>
            <a:r>
              <a:rPr lang="tr-TR" sz="800" dirty="0"/>
              <a:t>, Y., Zhou, F., </a:t>
            </a:r>
            <a:r>
              <a:rPr lang="tr-TR" sz="800" dirty="0" err="1"/>
              <a:t>Trajcevski</a:t>
            </a:r>
            <a:r>
              <a:rPr lang="tr-TR" sz="800" dirty="0"/>
              <a:t>, G., &amp; </a:t>
            </a:r>
            <a:r>
              <a:rPr lang="tr-TR" sz="800" dirty="0" err="1"/>
              <a:t>Zhong</a:t>
            </a:r>
            <a:r>
              <a:rPr lang="tr-TR" sz="800" dirty="0"/>
              <a:t>, T. (2023). DOSE: </a:t>
            </a:r>
            <a:r>
              <a:rPr lang="tr-TR" sz="800" dirty="0" err="1"/>
              <a:t>Diffusion</a:t>
            </a:r>
            <a:r>
              <a:rPr lang="tr-TR" sz="800" dirty="0"/>
              <a:t> </a:t>
            </a:r>
            <a:r>
              <a:rPr lang="tr-TR" sz="800" dirty="0" err="1"/>
              <a:t>dropout</a:t>
            </a:r>
            <a:r>
              <a:rPr lang="tr-TR" sz="800" dirty="0"/>
              <a:t> </a:t>
            </a:r>
            <a:r>
              <a:rPr lang="tr-TR" sz="800" dirty="0" err="1"/>
              <a:t>with</a:t>
            </a:r>
            <a:r>
              <a:rPr lang="tr-TR" sz="800" dirty="0"/>
              <a:t> </a:t>
            </a:r>
            <a:r>
              <a:rPr lang="tr-TR" sz="800" dirty="0" err="1"/>
              <a:t>adaptive</a:t>
            </a:r>
            <a:r>
              <a:rPr lang="tr-TR" sz="800" dirty="0"/>
              <a:t> </a:t>
            </a:r>
            <a:r>
              <a:rPr lang="tr-TR" sz="800" dirty="0" err="1"/>
              <a:t>prior</a:t>
            </a:r>
            <a:r>
              <a:rPr lang="tr-TR" sz="800" dirty="0"/>
              <a:t> </a:t>
            </a:r>
            <a:r>
              <a:rPr lang="tr-TR" sz="800" dirty="0" err="1"/>
              <a:t>for</a:t>
            </a:r>
            <a:r>
              <a:rPr lang="tr-TR" sz="800" dirty="0"/>
              <a:t> </a:t>
            </a:r>
            <a:r>
              <a:rPr lang="tr-TR" sz="800" dirty="0" err="1"/>
              <a:t>speech</a:t>
            </a:r>
            <a:r>
              <a:rPr lang="tr-TR" sz="800" dirty="0"/>
              <a:t> </a:t>
            </a:r>
            <a:r>
              <a:rPr lang="tr-TR" sz="800" dirty="0" err="1"/>
              <a:t>enhancement</a:t>
            </a:r>
            <a:r>
              <a:rPr lang="tr-TR" sz="800" dirty="0"/>
              <a:t>. </a:t>
            </a:r>
            <a:r>
              <a:rPr lang="tr-TR" sz="800" dirty="0" err="1"/>
              <a:t>Advances</a:t>
            </a:r>
            <a:r>
              <a:rPr lang="tr-TR" sz="800" dirty="0"/>
              <a:t> in </a:t>
            </a:r>
            <a:r>
              <a:rPr lang="tr-TR" sz="800" dirty="0" err="1"/>
              <a:t>Neural</a:t>
            </a:r>
            <a:r>
              <a:rPr lang="tr-TR" sz="800" dirty="0"/>
              <a:t> Information </a:t>
            </a:r>
            <a:r>
              <a:rPr lang="tr-TR" sz="800" dirty="0" err="1"/>
              <a:t>Processing</a:t>
            </a:r>
            <a:r>
              <a:rPr lang="tr-TR" sz="800" dirty="0"/>
              <a:t> </a:t>
            </a:r>
            <a:r>
              <a:rPr lang="tr-TR" sz="800" dirty="0" err="1"/>
              <a:t>Systems</a:t>
            </a:r>
            <a:r>
              <a:rPr lang="tr-TR" sz="800" dirty="0"/>
              <a:t>, 36, 40272-40293.</a:t>
            </a:r>
          </a:p>
          <a:p>
            <a:r>
              <a:rPr lang="tr-TR" sz="800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688649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B2397-14EE-D233-8155-57572994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F701952-3800-61EC-522C-982A09A8F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6" name="Google Shape;126;p20">
            <a:extLst>
              <a:ext uri="{FF2B5EF4-FFF2-40B4-BE49-F238E27FC236}">
                <a16:creationId xmlns:a16="http://schemas.microsoft.com/office/drawing/2014/main" id="{03355684-085B-9584-A131-6CFAC3980EB4}"/>
              </a:ext>
            </a:extLst>
          </p:cNvPr>
          <p:cNvSpPr txBox="1">
            <a:spLocks/>
          </p:cNvSpPr>
          <p:nvPr/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defRPr/>
            </a:pPr>
            <a:fld id="{00000000-1234-1234-1234-123412341234}" type="slidenum">
              <a:rPr lang="en" smtClean="0">
                <a:solidFill>
                  <a:srgbClr val="767E85"/>
                </a:solidFill>
              </a:rPr>
              <a:pPr>
                <a:defRPr/>
              </a:pPr>
              <a:t>21</a:t>
            </a:fld>
            <a:endParaRPr lang="en">
              <a:solidFill>
                <a:srgbClr val="767E85"/>
              </a:solidFill>
            </a:endParaRPr>
          </a:p>
        </p:txBody>
      </p:sp>
      <p:sp>
        <p:nvSpPr>
          <p:cNvPr id="7" name="Google Shape;75;p15">
            <a:extLst>
              <a:ext uri="{FF2B5EF4-FFF2-40B4-BE49-F238E27FC236}">
                <a16:creationId xmlns:a16="http://schemas.microsoft.com/office/drawing/2014/main" id="{B957F846-D309-5AB9-CA2A-2D817EE61515}"/>
              </a:ext>
            </a:extLst>
          </p:cNvPr>
          <p:cNvSpPr txBox="1">
            <a:spLocks/>
          </p:cNvSpPr>
          <p:nvPr/>
        </p:nvSpPr>
        <p:spPr>
          <a:xfrm>
            <a:off x="133003" y="1897650"/>
            <a:ext cx="2014057" cy="6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tr-TR" sz="2800" b="1" dirty="0"/>
              <a:t>Karşılaşılan Zorluklar </a:t>
            </a:r>
            <a:br>
              <a:rPr lang="tr-TR" sz="2800" b="1" dirty="0"/>
            </a:br>
            <a:r>
              <a:rPr lang="tr-TR" sz="2800" b="1" dirty="0"/>
              <a:t>ve Çözümleri</a:t>
            </a:r>
            <a:endParaRPr lang="tr-TR" sz="2600" b="1" dirty="0"/>
          </a:p>
        </p:txBody>
      </p:sp>
      <p:sp>
        <p:nvSpPr>
          <p:cNvPr id="8" name="Google Shape;77;p15">
            <a:extLst>
              <a:ext uri="{FF2B5EF4-FFF2-40B4-BE49-F238E27FC236}">
                <a16:creationId xmlns:a16="http://schemas.microsoft.com/office/drawing/2014/main" id="{C49E740B-CBB7-F512-8D3F-604B98D1AA11}"/>
              </a:ext>
            </a:extLst>
          </p:cNvPr>
          <p:cNvSpPr txBox="1">
            <a:spLocks/>
          </p:cNvSpPr>
          <p:nvPr/>
        </p:nvSpPr>
        <p:spPr>
          <a:xfrm>
            <a:off x="2032000" y="732971"/>
            <a:ext cx="6698828" cy="215155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12750" lvl="0" indent="-285750" algn="just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412750" lvl="0" indent="-285750" algn="just">
              <a:buFont typeface="Arial" panose="020B0604020202020204" pitchFamily="34" charset="0"/>
              <a:buChar char="•"/>
            </a:pPr>
            <a:endParaRPr lang="tr-TR" sz="16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E0D9FA85-EB1A-92F7-3DBD-4EDE8F34EBAF}"/>
              </a:ext>
            </a:extLst>
          </p:cNvPr>
          <p:cNvGrpSpPr/>
          <p:nvPr/>
        </p:nvGrpSpPr>
        <p:grpSpPr>
          <a:xfrm>
            <a:off x="-219360" y="4030727"/>
            <a:ext cx="9409469" cy="1231121"/>
            <a:chOff x="-213851" y="4030727"/>
            <a:chExt cx="9409469" cy="12311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3308364-914B-6F50-5E47-B61E28BA12AD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CB800E5-94D7-D825-47FE-D97EBC9492B2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97E7F3E4-FB8A-B0AA-E918-0FB3EB3625D9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83150B39-2785-7BE1-F16E-BC3139C47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5FDE166D-834E-16A4-592F-3A8AF6DE689B}"/>
                </a:ext>
              </a:extLst>
            </p:cNvPr>
            <p:cNvSpPr txBox="1"/>
            <p:nvPr/>
          </p:nvSpPr>
          <p:spPr>
            <a:xfrm>
              <a:off x="28833" y="4892516"/>
              <a:ext cx="151896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B74BB00-D529-19E2-6072-880CF3AE3833}"/>
              </a:ext>
            </a:extLst>
          </p:cNvPr>
          <p:cNvSpPr/>
          <p:nvPr/>
        </p:nvSpPr>
        <p:spPr>
          <a:xfrm>
            <a:off x="4796260" y="1187073"/>
            <a:ext cx="1762699" cy="930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Donanımsal Sorunlar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7191FD-F31C-CD85-EB3D-B586D7D2A349}"/>
              </a:ext>
            </a:extLst>
          </p:cNvPr>
          <p:cNvSpPr/>
          <p:nvPr/>
        </p:nvSpPr>
        <p:spPr>
          <a:xfrm>
            <a:off x="3618716" y="2571750"/>
            <a:ext cx="1762698" cy="930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Depolama Sorunları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A15736-F023-0D11-C313-64E49258F752}"/>
              </a:ext>
            </a:extLst>
          </p:cNvPr>
          <p:cNvSpPr/>
          <p:nvPr/>
        </p:nvSpPr>
        <p:spPr>
          <a:xfrm>
            <a:off x="6174772" y="2571750"/>
            <a:ext cx="1762698" cy="930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Eksik Kod Sorunları</a:t>
            </a:r>
          </a:p>
        </p:txBody>
      </p:sp>
    </p:spTree>
    <p:extLst>
      <p:ext uri="{BB962C8B-B14F-4D97-AF65-F5344CB8AC3E}">
        <p14:creationId xmlns:p14="http://schemas.microsoft.com/office/powerpoint/2010/main" val="367941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558600" y="514350"/>
            <a:ext cx="2824200" cy="46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Referanslar</a:t>
            </a:r>
            <a:endParaRPr dirty="0"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8456478" y="129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DB8B2-F5AD-44DB-9B26-B0B4078A63A6}"/>
              </a:ext>
            </a:extLst>
          </p:cNvPr>
          <p:cNvSpPr txBox="1"/>
          <p:nvPr/>
        </p:nvSpPr>
        <p:spPr>
          <a:xfrm>
            <a:off x="419087" y="1238151"/>
            <a:ext cx="7897878" cy="203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3456305" algn="l"/>
              </a:tabLst>
            </a:pPr>
            <a:endParaRPr lang="en-US" sz="1050" b="1" u="sng" dirty="0">
              <a:effectLst/>
              <a:latin typeface="Encode Sans Semi Condensed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r>
              <a:rPr lang="en-US" sz="900" dirty="0">
                <a:latin typeface="Encode Sans Semi Condensed"/>
              </a:rPr>
              <a:t>Richter, J., Wu, Y. C., Krenn, S., Welker, S., Lay, B., Watanabe, S., ... &amp; </a:t>
            </a:r>
            <a:r>
              <a:rPr lang="en-US" sz="900" dirty="0" err="1">
                <a:latin typeface="Encode Sans Semi Condensed"/>
              </a:rPr>
              <a:t>Gerkmann</a:t>
            </a:r>
            <a:r>
              <a:rPr lang="en-US" sz="900" dirty="0">
                <a:latin typeface="Encode Sans Semi Condensed"/>
              </a:rPr>
              <a:t>, T. (2024). EARS: An anechoic </a:t>
            </a:r>
            <a:r>
              <a:rPr lang="en-US" sz="900" dirty="0" err="1">
                <a:latin typeface="Encode Sans Semi Condensed"/>
              </a:rPr>
              <a:t>fullband</a:t>
            </a:r>
            <a:r>
              <a:rPr lang="en-US" sz="900" dirty="0">
                <a:latin typeface="Encode Sans Semi Condensed"/>
              </a:rPr>
              <a:t> speech dataset benchmarked for speech enhancement and dereverberation. </a:t>
            </a:r>
            <a:r>
              <a:rPr lang="en-US" sz="900" dirty="0" err="1">
                <a:latin typeface="Encode Sans Semi Condensed"/>
              </a:rPr>
              <a:t>arXiv</a:t>
            </a:r>
            <a:r>
              <a:rPr lang="en-US" sz="900" dirty="0">
                <a:latin typeface="Encode Sans Semi Condensed"/>
              </a:rPr>
              <a:t> preprint arXiv:2406.06185.</a:t>
            </a: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r>
              <a:rPr lang="en-US" sz="900" dirty="0">
                <a:latin typeface="Encode Sans Semi Condensed"/>
              </a:rPr>
              <a:t>Tai, W., Lei, Y., Zhou, F., </a:t>
            </a:r>
            <a:r>
              <a:rPr lang="en-US" sz="900" dirty="0" err="1">
                <a:latin typeface="Encode Sans Semi Condensed"/>
              </a:rPr>
              <a:t>Trajcevski</a:t>
            </a:r>
            <a:r>
              <a:rPr lang="en-US" sz="900" dirty="0">
                <a:latin typeface="Encode Sans Semi Condensed"/>
              </a:rPr>
              <a:t>, G., &amp; Zhong, T. (2023). DOSE: Diffusion dropout with adaptive prior for speech enhancement. Advances in Neural Information Processing Systems, 36, 40272-40293.</a:t>
            </a: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r>
              <a:rPr lang="en-US" sz="900" dirty="0" err="1">
                <a:latin typeface="Encode Sans Semi Condensed"/>
              </a:rPr>
              <a:t>Veaux</a:t>
            </a:r>
            <a:r>
              <a:rPr lang="en-US" sz="900" dirty="0">
                <a:latin typeface="Encode Sans Semi Condensed"/>
              </a:rPr>
              <a:t>, C., Yamagishi, J., &amp; King, S. (2013, November). The voice bank corpus: Design, collection and data analysis of a large regional accent speech database. In 2013 international conference oriental COCOSDA held jointly with 2013 conference on Asian spoken language research and evaluation (O-COCOSDA/CASLRE) (pp. 1-4). IEEE.</a:t>
            </a: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r>
              <a:rPr lang="en-US" sz="900" dirty="0">
                <a:latin typeface="Encode Sans Semi Condensed"/>
              </a:rPr>
              <a:t>Kong, Z., Ping, W., Huang, J., Zhao, K., &amp; Catanzaro, B. (2020). </a:t>
            </a:r>
            <a:r>
              <a:rPr lang="en-US" sz="900" dirty="0" err="1">
                <a:latin typeface="Encode Sans Semi Condensed"/>
              </a:rPr>
              <a:t>Diffwave</a:t>
            </a:r>
            <a:r>
              <a:rPr lang="en-US" sz="900" dirty="0">
                <a:latin typeface="Encode Sans Semi Condensed"/>
              </a:rPr>
              <a:t>: A versatile diffusion model for audio synthesis. </a:t>
            </a:r>
            <a:r>
              <a:rPr lang="en-US" sz="900" dirty="0" err="1">
                <a:latin typeface="Encode Sans Semi Condensed"/>
              </a:rPr>
              <a:t>arXiv</a:t>
            </a:r>
            <a:r>
              <a:rPr lang="en-US" sz="900" dirty="0">
                <a:latin typeface="Encode Sans Semi Condensed"/>
              </a:rPr>
              <a:t> preprint arXiv:2009.09761.</a:t>
            </a:r>
            <a:endParaRPr lang="tr-TR" sz="900" dirty="0">
              <a:latin typeface="Encode Sans Semi Condensed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r>
              <a:rPr lang="en-US" sz="900" dirty="0">
                <a:latin typeface="Encode Sans Semi Condensed"/>
              </a:rPr>
              <a:t>https://www.chimechallenge.org/challenges/chime4/data#Audio</a:t>
            </a: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endParaRPr lang="en-US" sz="900" dirty="0">
              <a:latin typeface="Encode Sans Semi Condensed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endParaRPr lang="en-US" sz="900" dirty="0">
              <a:latin typeface="Encode Sans Semi Condensed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3456305" algn="l"/>
              </a:tabLst>
            </a:pPr>
            <a:endParaRPr lang="en-US" sz="900" dirty="0">
              <a:latin typeface="Encode Sans Semi Condensed"/>
            </a:endParaRPr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3B899481-B101-19A2-0728-44E2D19FF3EB}"/>
              </a:ext>
            </a:extLst>
          </p:cNvPr>
          <p:cNvSpPr txBox="1">
            <a:spLocks/>
          </p:cNvSpPr>
          <p:nvPr/>
        </p:nvSpPr>
        <p:spPr>
          <a:xfrm>
            <a:off x="419087" y="886512"/>
            <a:ext cx="8272152" cy="144090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algn="just"/>
            <a:endParaRPr lang="en-US" sz="120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09BA1D79-9C51-677D-6B96-AB13B655CEA1}"/>
              </a:ext>
            </a:extLst>
          </p:cNvPr>
          <p:cNvGrpSpPr/>
          <p:nvPr/>
        </p:nvGrpSpPr>
        <p:grpSpPr>
          <a:xfrm>
            <a:off x="-213851" y="4030727"/>
            <a:ext cx="9409469" cy="1231121"/>
            <a:chOff x="-213851" y="4030727"/>
            <a:chExt cx="9409469" cy="1231121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992FBC14-F1BE-09AF-8BE4-700F0B09411A}"/>
                </a:ext>
              </a:extLst>
            </p:cNvPr>
            <p:cNvSpPr/>
            <p:nvPr/>
          </p:nvSpPr>
          <p:spPr>
            <a:xfrm>
              <a:off x="-1" y="4872364"/>
              <a:ext cx="9195619" cy="271136"/>
            </a:xfrm>
            <a:prstGeom prst="rect">
              <a:avLst/>
            </a:prstGeom>
            <a:solidFill>
              <a:schemeClr val="accent3">
                <a:lumMod val="9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7103A4-006A-937D-AA90-1D80E2DE2F92}"/>
                </a:ext>
              </a:extLst>
            </p:cNvPr>
            <p:cNvSpPr txBox="1"/>
            <p:nvPr/>
          </p:nvSpPr>
          <p:spPr>
            <a:xfrm>
              <a:off x="2147060" y="4892516"/>
              <a:ext cx="5309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err="1"/>
                <a:t>Yapay</a:t>
              </a:r>
              <a:r>
                <a:rPr lang="en-US" sz="900" dirty="0"/>
                <a:t> Zeka </a:t>
              </a:r>
              <a:r>
                <a:rPr lang="en-US" sz="900" dirty="0" err="1"/>
                <a:t>Tabanli</a:t>
              </a:r>
              <a:r>
                <a:rPr lang="en-US" sz="900" dirty="0"/>
                <a:t> </a:t>
              </a:r>
              <a:r>
                <a:rPr lang="en-US" sz="900" dirty="0" err="1"/>
                <a:t>Ses</a:t>
              </a:r>
              <a:r>
                <a:rPr lang="en-US" sz="900" dirty="0"/>
                <a:t> </a:t>
              </a:r>
              <a:r>
                <a:rPr lang="en-US" sz="900" dirty="0" err="1"/>
                <a:t>Sistemlerinde</a:t>
              </a:r>
              <a:r>
                <a:rPr lang="en-US" sz="900" dirty="0"/>
                <a:t> G</a:t>
              </a:r>
              <a:r>
                <a:rPr lang="tr-TR" sz="900" dirty="0"/>
                <a:t>ü</a:t>
              </a:r>
              <a:r>
                <a:rPr lang="en-US" sz="900" dirty="0"/>
                <a:t>r</a:t>
              </a:r>
              <a:r>
                <a:rPr lang="tr-TR" sz="900" dirty="0"/>
                <a:t>ü</a:t>
              </a:r>
              <a:r>
                <a:rPr lang="en-US" sz="900" dirty="0" err="1"/>
                <a:t>lt</a:t>
              </a:r>
              <a:r>
                <a:rPr lang="tr-TR" sz="900" dirty="0"/>
                <a:t>ü</a:t>
              </a:r>
              <a:r>
                <a:rPr lang="en-US" sz="900" dirty="0"/>
                <a:t> </a:t>
              </a:r>
              <a:r>
                <a:rPr lang="en-US" sz="900" dirty="0" err="1"/>
                <a:t>Engelleme</a:t>
              </a:r>
              <a:r>
                <a:rPr lang="en-US" sz="900" dirty="0"/>
                <a:t> (AI-Based Noise Cancelling)</a:t>
              </a:r>
              <a:br>
                <a:rPr lang="en-US" sz="900" dirty="0"/>
              </a:br>
              <a:endParaRPr lang="en-US" sz="900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BBA01C2-38E8-F137-F401-008482F72105}"/>
                </a:ext>
              </a:extLst>
            </p:cNvPr>
            <p:cNvSpPr txBox="1"/>
            <p:nvPr/>
          </p:nvSpPr>
          <p:spPr>
            <a:xfrm>
              <a:off x="7332785" y="4892516"/>
              <a:ext cx="1792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900" dirty="0"/>
                <a:t>Mert </a:t>
              </a:r>
              <a:r>
                <a:rPr lang="tr-TR" sz="900" dirty="0"/>
                <a:t>Şahin</a:t>
              </a:r>
              <a:endParaRPr lang="en-US" sz="900" dirty="0"/>
            </a:p>
          </p:txBody>
        </p:sp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37150366-D31B-62E6-02A3-EC46A79A0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3851" y="4030727"/>
              <a:ext cx="1265876" cy="977205"/>
            </a:xfrm>
            <a:prstGeom prst="rect">
              <a:avLst/>
            </a:prstGeom>
          </p:spPr>
        </p:pic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DD7DD67F-95B7-1A49-DCCA-421C2E948FBD}"/>
                </a:ext>
              </a:extLst>
            </p:cNvPr>
            <p:cNvSpPr txBox="1"/>
            <p:nvPr/>
          </p:nvSpPr>
          <p:spPr>
            <a:xfrm>
              <a:off x="28834" y="4892516"/>
              <a:ext cx="15378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900" dirty="0"/>
                <a:t>Sunum Tarihi</a:t>
              </a:r>
              <a:r>
                <a:rPr lang="en-US" sz="900" dirty="0"/>
                <a:t>: 15.09.2025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 idx="4294967295"/>
          </p:nvPr>
        </p:nvSpPr>
        <p:spPr>
          <a:xfrm>
            <a:off x="0" y="2291550"/>
            <a:ext cx="9144000" cy="123651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200" dirty="0">
                <a:solidFill>
                  <a:schemeClr val="lt1"/>
                </a:solidFill>
              </a:rPr>
              <a:t>Teşekkürler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456478" y="129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en template">
  <a:themeElements>
    <a:clrScheme name="Custom 347">
      <a:dk1>
        <a:srgbClr val="2E363D"/>
      </a:dk1>
      <a:lt1>
        <a:srgbClr val="FFFFFF"/>
      </a:lt1>
      <a:dk2>
        <a:srgbClr val="767E85"/>
      </a:dk2>
      <a:lt2>
        <a:srgbClr val="FBFBFB"/>
      </a:lt2>
      <a:accent1>
        <a:srgbClr val="F8E7D5"/>
      </a:accent1>
      <a:accent2>
        <a:srgbClr val="EBC7C1"/>
      </a:accent2>
      <a:accent3>
        <a:srgbClr val="E9F2F9"/>
      </a:accent3>
      <a:accent4>
        <a:srgbClr val="B5CFDA"/>
      </a:accent4>
      <a:accent5>
        <a:srgbClr val="EEEAEA"/>
      </a:accent5>
      <a:accent6>
        <a:srgbClr val="E3E9D3"/>
      </a:accent6>
      <a:hlink>
        <a:srgbClr val="2E363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7512</TotalTime>
  <Words>2001</Words>
  <Application>Microsoft Office PowerPoint</Application>
  <PresentationFormat>Ekran Gösterisi (16:9)</PresentationFormat>
  <Paragraphs>212</Paragraphs>
  <Slides>23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3</vt:i4>
      </vt:variant>
      <vt:variant>
        <vt:lpstr>Slayt Başlıkları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Encode Sans Semi Condensed</vt:lpstr>
      <vt:lpstr>Karla</vt:lpstr>
      <vt:lpstr>Times New Roman</vt:lpstr>
      <vt:lpstr>Iden template</vt:lpstr>
      <vt:lpstr>Custom Design</vt:lpstr>
      <vt:lpstr>1_Custom Design</vt:lpstr>
      <vt:lpstr>Yapay Zeka Tabanli Ses Sistemlerinde Gürültü Engelleme (AI-Based Noise Cancelling) Staj Sonu Sunumu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Referanslar</vt:lpstr>
      <vt:lpstr>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Recognition Systems: AI-Powered Silent Communication in the Defense Industry</dc:title>
  <dc:creator>Nergis Pervan</dc:creator>
  <cp:lastModifiedBy>Mert Şahin</cp:lastModifiedBy>
  <cp:revision>121</cp:revision>
  <dcterms:modified xsi:type="dcterms:W3CDTF">2025-09-15T07:46:21Z</dcterms:modified>
</cp:coreProperties>
</file>